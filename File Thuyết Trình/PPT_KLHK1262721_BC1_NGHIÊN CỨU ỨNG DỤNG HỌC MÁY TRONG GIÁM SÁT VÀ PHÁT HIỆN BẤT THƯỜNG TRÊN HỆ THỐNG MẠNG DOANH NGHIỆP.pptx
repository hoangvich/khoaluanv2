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4" r:id="rId17"/>
    <p:sldId id="275" r:id="rId18"/>
    <p:sldId id="276" r:id="rId19"/>
    <p:sldId id="272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4" roundtripDataSignature="AMtx7mjQ4WS1HnDq4nv6dMiLlo7Tzrom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0F76FB-D21D-4FCB-8042-230AB1E24152}">
  <a:tblStyle styleId="{EE0F76FB-D21D-4FCB-8042-230AB1E2415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F4C694C-042F-46EA-8B66-F43C6F2EC67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A7083E6-70D2-4BAD-9AAE-A628F8E9D457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6" y="1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8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8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5" name="Google Shape;2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8" name="Google Shape;2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8" name="Google Shape;2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5" name="Google Shape;5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6" name="Google Shape;51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7" name="Google Shape;52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8" name="Google Shape;53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9" name="Google Shape;54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2" name="Google Shape;5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4" name="Google Shape;57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/>
          <p:nvPr/>
        </p:nvSpPr>
        <p:spPr>
          <a:xfrm>
            <a:off x="1797900" y="1222400"/>
            <a:ext cx="3173400" cy="249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5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 txBox="1"/>
          <p:nvPr/>
        </p:nvSpPr>
        <p:spPr>
          <a:xfrm>
            <a:off x="1668452" y="2666750"/>
            <a:ext cx="9484360" cy="1117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vi-VN" sz="2200" b="1" dirty="0">
                <a:solidFill>
                  <a:schemeClr val="accent1"/>
                </a:solidFill>
              </a:rPr>
              <a:t>NGHIÊN CỨU ỨNG DỤNG HỌC MÁY TRONG GIÁM SÁT VÀ PHÁT HIỆN BẤT THƯỜNG TRÊN HỆ THỐNG MẠNG DOANH NGHIỆP</a:t>
            </a:r>
            <a:endParaRPr lang="en-US" sz="2200" dirty="0">
              <a:solidFill>
                <a:schemeClr val="accent1"/>
              </a:solidFill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1991360" y="3608393"/>
            <a:ext cx="9921240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50000"/>
              </a:lnSpc>
              <a:buSzPts val="2200"/>
            </a:pPr>
            <a:r>
              <a:rPr lang="en-US" sz="22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Mã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nhóm:</a:t>
            </a:r>
            <a:r>
              <a:rPr lang="en-US" sz="2200" b="1" dirty="0">
                <a:solidFill>
                  <a:srgbClr val="0070C0"/>
                </a:solidFill>
              </a:rPr>
              <a:t>KLHK1262721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Giảng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viên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hướng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dẫn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  </a:t>
            </a:r>
            <a:r>
              <a:rPr lang="vi-VN" sz="22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S. </a:t>
            </a:r>
            <a:r>
              <a:rPr lang="vi-VN" sz="2200" b="1" dirty="0">
                <a:solidFill>
                  <a:srgbClr val="0070C0"/>
                </a:solidFill>
              </a:rPr>
              <a:t>Nguyễn Thành Huy</a:t>
            </a:r>
            <a:endParaRPr sz="2200" b="1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Sinh </a:t>
            </a:r>
            <a:r>
              <a:rPr lang="en-US" sz="22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viên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thực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hiện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vi-VN" sz="2200" b="1" dirty="0">
                <a:solidFill>
                  <a:srgbClr val="0070C0"/>
                </a:solidFill>
              </a:rPr>
              <a:t>Đoàn Lê Đức Anh 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vi-VN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2310A04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sz="2200" b="0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	                     </a:t>
            </a:r>
            <a:r>
              <a:rPr lang="vi-VN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2200" b="1" dirty="0">
                <a:solidFill>
                  <a:srgbClr val="0070C0"/>
                </a:solidFill>
              </a:rPr>
              <a:t>Trương Nguyễn Đức Anh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– 2210A03</a:t>
            </a:r>
            <a:endParaRPr sz="2200" b="1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                              </a:t>
            </a:r>
            <a:r>
              <a:rPr lang="vi-VN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vi-VN" sz="2200" b="1" dirty="0">
                <a:solidFill>
                  <a:srgbClr val="0070C0"/>
                </a:solidFill>
              </a:rPr>
              <a:t>Nguyễn Huy Hoàng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– </a:t>
            </a:r>
            <a:r>
              <a:rPr lang="vi-VN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2310A04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</a:t>
            </a:r>
            <a:r>
              <a:rPr lang="vi-VN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vi-VN" sz="2200" b="1" dirty="0">
                <a:solidFill>
                  <a:srgbClr val="0070C0"/>
                </a:solidFill>
              </a:rPr>
              <a:t>Nguyễn Văn Khải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    – </a:t>
            </a:r>
            <a:r>
              <a:rPr lang="vi-VN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2310A04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vi-VN" sz="2200" b="1" dirty="0">
                <a:solidFill>
                  <a:srgbClr val="0070C0"/>
                </a:solidFill>
              </a:rPr>
              <a:t>                                          Phùng Ngọc Linh - 2310A02</a:t>
            </a:r>
            <a:endParaRPr sz="2200" b="0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10992485" y="6478270"/>
            <a:ext cx="73787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1/</a:t>
            </a: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dirty="0"/>
          </a:p>
        </p:txBody>
      </p:sp>
      <p:sp>
        <p:nvSpPr>
          <p:cNvPr id="21" name="Google Shape;21;p1"/>
          <p:cNvSpPr txBox="1"/>
          <p:nvPr/>
        </p:nvSpPr>
        <p:spPr>
          <a:xfrm>
            <a:off x="615949" y="6478270"/>
            <a:ext cx="18519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dirty="0">
                <a:solidFill>
                  <a:schemeClr val="dk1"/>
                </a:solidFill>
              </a:rPr>
              <a:t>03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6096000" y="282426"/>
            <a:ext cx="6223819" cy="1880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BÁO CÁO </a:t>
            </a:r>
            <a:r>
              <a:rPr lang="vi-VN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TIẾN ĐỘ LẦN 1 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A13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vi-VN" sz="2200" b="1" dirty="0">
                <a:solidFill>
                  <a:srgbClr val="0070C0"/>
                </a:solidFill>
              </a:rPr>
              <a:t>KHÓA LUẬN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TỐT NGHIỆP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2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Ngành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 CNTT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Chuyên </a:t>
            </a:r>
            <a:r>
              <a:rPr lang="en-US" sz="22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ngành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2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Mạng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an </a:t>
            </a:r>
            <a:r>
              <a:rPr lang="en-US" sz="22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toàn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hệ</a:t>
            </a:r>
            <a:r>
              <a:rPr lang="en-US" sz="22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thống</a:t>
            </a:r>
            <a:endParaRPr sz="2200" b="1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200" b="1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3558" y="158451"/>
            <a:ext cx="1016148" cy="6381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" name="Google Shape;28;p2"/>
          <p:cNvCxnSpPr/>
          <p:nvPr/>
        </p:nvCxnSpPr>
        <p:spPr>
          <a:xfrm>
            <a:off x="0" y="839624"/>
            <a:ext cx="10800678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29" name="Google Shape;29;p2"/>
          <p:cNvSpPr txBox="1"/>
          <p:nvPr/>
        </p:nvSpPr>
        <p:spPr>
          <a:xfrm>
            <a:off x="765316" y="166006"/>
            <a:ext cx="590370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800"/>
            </a:pPr>
            <a:r>
              <a:rPr lang="vi-VN" sz="2800" b="1" dirty="0">
                <a:solidFill>
                  <a:srgbClr val="0432FF"/>
                </a:solidFill>
              </a:rPr>
              <a:t>NỘI DUNG BÁO CÁO</a:t>
            </a:r>
            <a:endParaRPr sz="280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765316" y="1107066"/>
            <a:ext cx="10800600" cy="348552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2300"/>
              <a:buFont typeface="Times New Roman"/>
              <a:buAutoNum type="arabicPeriod"/>
            </a:pPr>
            <a:r>
              <a:rPr lang="vi-VN" sz="2100" b="1" dirty="0">
                <a:solidFill>
                  <a:srgbClr val="0432FF"/>
                </a:solidFill>
              </a:rPr>
              <a:t>BÀI TOÁN VÀ MỤC TIÊU</a:t>
            </a:r>
            <a:endParaRPr sz="2100" b="1" i="0" u="none" strike="noStrike" cap="none" dirty="0">
              <a:solidFill>
                <a:srgbClr val="0432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2100"/>
              <a:buFont typeface="Times New Roman"/>
              <a:buAutoNum type="arabicPeriod"/>
            </a:pPr>
            <a:r>
              <a:rPr lang="vi-VN" sz="2100" b="1" dirty="0">
                <a:solidFill>
                  <a:srgbClr val="0432FF"/>
                </a:solidFill>
              </a:rPr>
              <a:t>HƯỚNG TIẾP CẬN FLOW-</a:t>
            </a:r>
            <a:r>
              <a:rPr lang="vi-VN" sz="2100" b="1" dirty="0" err="1">
                <a:solidFill>
                  <a:srgbClr val="0432FF"/>
                </a:solidFill>
              </a:rPr>
              <a:t>based</a:t>
            </a:r>
            <a:r>
              <a:rPr lang="vi-VN" sz="2100" b="1" dirty="0">
                <a:solidFill>
                  <a:srgbClr val="0432FF"/>
                </a:solidFill>
              </a:rPr>
              <a:t> ML</a:t>
            </a:r>
            <a:endParaRPr sz="2100" b="1" i="0" u="none" strike="noStrike" cap="none" dirty="0">
              <a:solidFill>
                <a:srgbClr val="0432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2300"/>
              <a:buFont typeface="Times New Roman"/>
              <a:buAutoNum type="arabicPeriod"/>
            </a:pPr>
            <a:r>
              <a:rPr lang="vi-VN" sz="2100" b="1" dirty="0">
                <a:solidFill>
                  <a:srgbClr val="0432FF"/>
                </a:solidFill>
              </a:rPr>
              <a:t>DỮ LIỆU VÀ TIỀN XỬ LÝ</a:t>
            </a:r>
            <a:endParaRPr sz="1400" b="1" i="0" u="none" strike="noStrike" cap="none" dirty="0">
              <a:solidFill>
                <a:srgbClr val="0432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3909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2100"/>
              <a:buFont typeface="Times New Roman"/>
              <a:buAutoNum type="arabicPeriod"/>
            </a:pPr>
            <a:r>
              <a:rPr lang="vi-VN" sz="2100" b="1" dirty="0">
                <a:solidFill>
                  <a:srgbClr val="0432FF"/>
                </a:solidFill>
              </a:rPr>
              <a:t>MÔ HÌNH VÀ TIÊU CHÍ ĐÁNH GIÁ</a:t>
            </a:r>
          </a:p>
          <a:p>
            <a:pPr marL="342900" marR="0" lvl="0" indent="-33909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2100"/>
              <a:buFont typeface="Times New Roman"/>
              <a:buAutoNum type="arabicPeriod"/>
            </a:pPr>
            <a:r>
              <a:rPr lang="vi-VN" sz="2100" b="1" i="0" u="none" strike="noStrike" cap="none" dirty="0">
                <a:solidFill>
                  <a:srgbClr val="0432FF"/>
                </a:solidFill>
                <a:latin typeface="Arial"/>
                <a:ea typeface="Arial"/>
                <a:cs typeface="Arial"/>
                <a:sym typeface="Arial"/>
              </a:rPr>
              <a:t>KIẾN TRÚC HỆ THỐNG VÀ LAB</a:t>
            </a:r>
          </a:p>
          <a:p>
            <a:pPr marL="342900" marR="0" lvl="0" indent="-33909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2100"/>
              <a:buFont typeface="Times New Roman"/>
              <a:buAutoNum type="arabicPeriod"/>
            </a:pPr>
            <a:r>
              <a:rPr lang="vi-VN" sz="2100" b="1" dirty="0">
                <a:solidFill>
                  <a:srgbClr val="0432FF"/>
                </a:solidFill>
              </a:rPr>
              <a:t>TIẾN ĐỘ ĐẠT ĐƯỢC VÀ KẾ HOẠCH TIẾP THEO</a:t>
            </a:r>
          </a:p>
          <a:p>
            <a:pPr marL="342900" marR="0" lvl="0" indent="-33909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432FF"/>
              </a:buClr>
              <a:buSzPts val="2100"/>
              <a:buFont typeface="Times New Roman"/>
              <a:buAutoNum type="arabicPeriod"/>
            </a:pPr>
            <a:r>
              <a:rPr lang="vi-VN" sz="2100" b="1" i="0" u="none" strike="noStrike" cap="none" dirty="0">
                <a:solidFill>
                  <a:srgbClr val="0432FF"/>
                </a:solidFill>
                <a:latin typeface="Arial"/>
                <a:ea typeface="Arial"/>
                <a:cs typeface="Arial"/>
                <a:sym typeface="Arial"/>
              </a:rPr>
              <a:t>KẾT QUẢ THỰC NGHIỆM VÀ LỰA CHỌN MÔ HÌNH</a:t>
            </a:r>
            <a:endParaRPr sz="2100" b="1" i="0" u="none" strike="noStrike" cap="none" dirty="0">
              <a:solidFill>
                <a:srgbClr val="0432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11076444" y="6453650"/>
            <a:ext cx="83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2/</a:t>
            </a: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dirty="0"/>
          </a:p>
        </p:txBody>
      </p:sp>
      <p:sp>
        <p:nvSpPr>
          <p:cNvPr id="32" name="Google Shape;32;p2"/>
          <p:cNvSpPr txBox="1"/>
          <p:nvPr/>
        </p:nvSpPr>
        <p:spPr>
          <a:xfrm>
            <a:off x="615949" y="6478270"/>
            <a:ext cx="142916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3/</a:t>
            </a:r>
            <a:r>
              <a:rPr lang="vi-V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3558" y="158451"/>
            <a:ext cx="1016148" cy="6381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8" name="Google Shape;248;p4"/>
          <p:cNvCxnSpPr/>
          <p:nvPr/>
        </p:nvCxnSpPr>
        <p:spPr>
          <a:xfrm>
            <a:off x="0" y="839624"/>
            <a:ext cx="10800678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249" name="Google Shape;249;p4"/>
          <p:cNvSpPr txBox="1"/>
          <p:nvPr/>
        </p:nvSpPr>
        <p:spPr>
          <a:xfrm>
            <a:off x="294250" y="212766"/>
            <a:ext cx="912682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vi-VN" sz="24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Bài toán đặt ra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"/>
          <p:cNvSpPr txBox="1"/>
          <p:nvPr/>
        </p:nvSpPr>
        <p:spPr>
          <a:xfrm>
            <a:off x="11237934" y="6481425"/>
            <a:ext cx="83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dirty="0"/>
              <a:t>3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dirty="0"/>
          </a:p>
        </p:txBody>
      </p:sp>
      <p:sp>
        <p:nvSpPr>
          <p:cNvPr id="252" name="Google Shape;252;p4"/>
          <p:cNvSpPr txBox="1"/>
          <p:nvPr/>
        </p:nvSpPr>
        <p:spPr>
          <a:xfrm>
            <a:off x="615949" y="6478270"/>
            <a:ext cx="13898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dirty="0">
                <a:solidFill>
                  <a:schemeClr val="dk1"/>
                </a:solidFill>
              </a:rPr>
              <a:t>03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4D2E200-A0A3-496F-4D5D-42563A7FA9F3}"/>
              </a:ext>
            </a:extLst>
          </p:cNvPr>
          <p:cNvSpPr/>
          <p:nvPr/>
        </p:nvSpPr>
        <p:spPr>
          <a:xfrm>
            <a:off x="152" y="0"/>
            <a:ext cx="12191695" cy="109728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1B12502-C1AE-66B1-27A6-19EB85FA512B}"/>
              </a:ext>
            </a:extLst>
          </p:cNvPr>
          <p:cNvSpPr txBox="1"/>
          <p:nvPr/>
        </p:nvSpPr>
        <p:spPr>
          <a:xfrm>
            <a:off x="612800" y="841248"/>
            <a:ext cx="498886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dirty="0" err="1">
                <a:solidFill>
                  <a:srgbClr val="5C6674"/>
                </a:solidFill>
                <a:latin typeface="Aptos"/>
              </a:rPr>
              <a:t>Mạng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doanh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nghiệp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mở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rộng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làm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tăng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bề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mặt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tấn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công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và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áp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lực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giám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sát</a:t>
            </a:r>
            <a:endParaRPr sz="1200" dirty="0">
              <a:solidFill>
                <a:srgbClr val="5C6674"/>
              </a:solidFill>
              <a:latin typeface="Aptos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7766FB71-BA44-2978-9BE2-96850D6D75F6}"/>
              </a:ext>
            </a:extLst>
          </p:cNvPr>
          <p:cNvSpPr txBox="1"/>
          <p:nvPr/>
        </p:nvSpPr>
        <p:spPr>
          <a:xfrm>
            <a:off x="11384432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>
                <a:solidFill>
                  <a:srgbClr val="5C6674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2F3DCD2B-3360-FCDD-34E2-B0381A59197B}"/>
              </a:ext>
            </a:extLst>
          </p:cNvPr>
          <p:cNvSpPr/>
          <p:nvPr/>
        </p:nvSpPr>
        <p:spPr>
          <a:xfrm>
            <a:off x="685952" y="132588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51C649B-DA1E-4BF6-4DE2-E73CE5128BFE}"/>
              </a:ext>
            </a:extLst>
          </p:cNvPr>
          <p:cNvSpPr/>
          <p:nvPr/>
        </p:nvSpPr>
        <p:spPr>
          <a:xfrm>
            <a:off x="685952" y="1325880"/>
            <a:ext cx="73152" cy="1371600"/>
          </a:xfrm>
          <a:prstGeom prst="rect">
            <a:avLst/>
          </a:prstGeom>
          <a:solidFill>
            <a:srgbClr val="AD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434AA2E5-67B4-99E7-2764-451A696DDF79}"/>
              </a:ext>
            </a:extLst>
          </p:cNvPr>
          <p:cNvSpPr txBox="1"/>
          <p:nvPr/>
        </p:nvSpPr>
        <p:spPr>
          <a:xfrm>
            <a:off x="905408" y="1433985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DDoS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9EF81BD3-B644-B256-0356-4911E80FAFBB}"/>
              </a:ext>
            </a:extLst>
          </p:cNvPr>
          <p:cNvSpPr txBox="1"/>
          <p:nvPr/>
        </p:nvSpPr>
        <p:spPr>
          <a:xfrm>
            <a:off x="868832" y="1856232"/>
            <a:ext cx="3017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Lưu </a:t>
            </a:r>
            <a:r>
              <a:rPr sz="1600" dirty="0" err="1"/>
              <a:t>lượng</a:t>
            </a:r>
            <a:r>
              <a:rPr sz="1600" dirty="0"/>
              <a:t> </a:t>
            </a:r>
            <a:r>
              <a:rPr sz="1600" dirty="0" err="1"/>
              <a:t>lớn</a:t>
            </a:r>
            <a:r>
              <a:rPr sz="1600" dirty="0"/>
              <a:t> </a:t>
            </a:r>
            <a:r>
              <a:rPr sz="1600" dirty="0" err="1"/>
              <a:t>hoặc</a:t>
            </a:r>
            <a:r>
              <a:rPr sz="1600" dirty="0"/>
              <a:t> </a:t>
            </a:r>
            <a:r>
              <a:rPr sz="1600" dirty="0" err="1"/>
              <a:t>kết</a:t>
            </a:r>
            <a:r>
              <a:rPr sz="1600" dirty="0"/>
              <a:t> </a:t>
            </a:r>
            <a:r>
              <a:rPr sz="1600" dirty="0" err="1"/>
              <a:t>nối</a:t>
            </a:r>
            <a:r>
              <a:rPr sz="1600" dirty="0"/>
              <a:t> </a:t>
            </a:r>
            <a:r>
              <a:rPr sz="1600" dirty="0" err="1"/>
              <a:t>bất</a:t>
            </a:r>
            <a:r>
              <a:rPr sz="1600" dirty="0"/>
              <a:t> </a:t>
            </a:r>
            <a:r>
              <a:rPr sz="1600" dirty="0" err="1"/>
              <a:t>thường</a:t>
            </a:r>
            <a:r>
              <a:rPr sz="1600" dirty="0"/>
              <a:t> </a:t>
            </a:r>
            <a:r>
              <a:rPr sz="1600" dirty="0" err="1"/>
              <a:t>làm</a:t>
            </a:r>
            <a:r>
              <a:rPr sz="1600" dirty="0"/>
              <a:t> </a:t>
            </a:r>
            <a:r>
              <a:rPr sz="1600" dirty="0" err="1"/>
              <a:t>suy</a:t>
            </a:r>
            <a:r>
              <a:rPr sz="1600" dirty="0"/>
              <a:t> </a:t>
            </a:r>
            <a:r>
              <a:rPr sz="1600" dirty="0" err="1"/>
              <a:t>giảm</a:t>
            </a:r>
            <a:r>
              <a:rPr sz="1600" dirty="0"/>
              <a:t>/</a:t>
            </a:r>
            <a:r>
              <a:rPr sz="1600" dirty="0" err="1"/>
              <a:t>tê</a:t>
            </a:r>
            <a:r>
              <a:rPr sz="1600" dirty="0"/>
              <a:t> </a:t>
            </a:r>
            <a:r>
              <a:rPr sz="1600" dirty="0" err="1"/>
              <a:t>liệt</a:t>
            </a:r>
            <a:r>
              <a:rPr sz="1600" dirty="0"/>
              <a:t> </a:t>
            </a:r>
            <a:r>
              <a:rPr sz="1600" dirty="0" err="1"/>
              <a:t>dịch</a:t>
            </a:r>
            <a:r>
              <a:rPr sz="1600" dirty="0"/>
              <a:t> </a:t>
            </a:r>
            <a:r>
              <a:rPr sz="1600" dirty="0" err="1"/>
              <a:t>vụ</a:t>
            </a:r>
            <a:r>
              <a:rPr sz="1600" dirty="0"/>
              <a:t>.</a:t>
            </a:r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4E8E9631-743A-5C16-A09A-E62B96B90CF9}"/>
              </a:ext>
            </a:extLst>
          </p:cNvPr>
          <p:cNvSpPr/>
          <p:nvPr/>
        </p:nvSpPr>
        <p:spPr>
          <a:xfrm>
            <a:off x="4389272" y="132588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A8BC856B-2397-9D53-7C05-8B34A0F547DA}"/>
              </a:ext>
            </a:extLst>
          </p:cNvPr>
          <p:cNvSpPr/>
          <p:nvPr/>
        </p:nvSpPr>
        <p:spPr>
          <a:xfrm>
            <a:off x="4389272" y="1325880"/>
            <a:ext cx="73152" cy="1371600"/>
          </a:xfrm>
          <a:prstGeom prst="rect">
            <a:avLst/>
          </a:prstGeom>
          <a:solidFill>
            <a:srgbClr val="C17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4B68862F-693F-8068-BD34-CA7E021F9B3C}"/>
              </a:ext>
            </a:extLst>
          </p:cNvPr>
          <p:cNvSpPr txBox="1"/>
          <p:nvPr/>
        </p:nvSpPr>
        <p:spPr>
          <a:xfrm>
            <a:off x="4590440" y="14904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Port Scan</a:t>
            </a: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579BBA4D-11DA-DAF1-8BC3-6810A663BFDD}"/>
              </a:ext>
            </a:extLst>
          </p:cNvPr>
          <p:cNvSpPr txBox="1"/>
          <p:nvPr/>
        </p:nvSpPr>
        <p:spPr>
          <a:xfrm>
            <a:off x="4590440" y="1866483"/>
            <a:ext cx="3017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Do </a:t>
            </a:r>
            <a:r>
              <a:rPr sz="1600" dirty="0" err="1"/>
              <a:t>thám</a:t>
            </a:r>
            <a:r>
              <a:rPr sz="1600" dirty="0"/>
              <a:t> </a:t>
            </a:r>
            <a:r>
              <a:rPr sz="1600" dirty="0" err="1"/>
              <a:t>cổng</a:t>
            </a:r>
            <a:r>
              <a:rPr sz="1600" dirty="0"/>
              <a:t>/</a:t>
            </a:r>
            <a:r>
              <a:rPr sz="1600" dirty="0" err="1"/>
              <a:t>dịch</a:t>
            </a:r>
            <a:r>
              <a:rPr sz="1600" dirty="0"/>
              <a:t> </a:t>
            </a:r>
            <a:r>
              <a:rPr sz="1600" dirty="0" err="1"/>
              <a:t>vụ</a:t>
            </a:r>
            <a:r>
              <a:rPr sz="1600" dirty="0"/>
              <a:t>, </a:t>
            </a:r>
            <a:r>
              <a:rPr sz="1600" dirty="0" err="1"/>
              <a:t>thường</a:t>
            </a:r>
            <a:r>
              <a:rPr sz="1600" dirty="0"/>
              <a:t> </a:t>
            </a:r>
            <a:r>
              <a:rPr sz="1600" dirty="0" err="1"/>
              <a:t>là</a:t>
            </a:r>
            <a:r>
              <a:rPr sz="1600" dirty="0"/>
              <a:t> </a:t>
            </a:r>
            <a:r>
              <a:rPr sz="1600" dirty="0" err="1"/>
              <a:t>bước</a:t>
            </a:r>
            <a:r>
              <a:rPr sz="1600" dirty="0"/>
              <a:t> </a:t>
            </a:r>
            <a:r>
              <a:rPr sz="1600" dirty="0" err="1"/>
              <a:t>chuẩn</a:t>
            </a:r>
            <a:r>
              <a:rPr sz="1600" dirty="0"/>
              <a:t> </a:t>
            </a:r>
            <a:r>
              <a:rPr sz="1600" dirty="0" err="1"/>
              <a:t>bị</a:t>
            </a:r>
            <a:r>
              <a:rPr sz="1600" dirty="0"/>
              <a:t> </a:t>
            </a:r>
            <a:r>
              <a:rPr sz="1600" dirty="0" err="1"/>
              <a:t>cho</a:t>
            </a:r>
            <a:r>
              <a:rPr sz="1600" dirty="0"/>
              <a:t> </a:t>
            </a:r>
            <a:r>
              <a:rPr sz="1600" dirty="0" err="1"/>
              <a:t>xâm</a:t>
            </a:r>
            <a:r>
              <a:rPr sz="1600" dirty="0"/>
              <a:t> </a:t>
            </a:r>
            <a:r>
              <a:rPr sz="1600" dirty="0" err="1"/>
              <a:t>nhập</a:t>
            </a:r>
            <a:r>
              <a:rPr sz="1600" dirty="0"/>
              <a:t> </a:t>
            </a:r>
            <a:r>
              <a:rPr sz="1600" dirty="0" err="1"/>
              <a:t>sâu</a:t>
            </a:r>
            <a:r>
              <a:rPr sz="1600" dirty="0"/>
              <a:t>.</a:t>
            </a:r>
          </a:p>
        </p:txBody>
      </p:sp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DC22E523-72DB-885F-1C05-63C195A76FF3}"/>
              </a:ext>
            </a:extLst>
          </p:cNvPr>
          <p:cNvSpPr/>
          <p:nvPr/>
        </p:nvSpPr>
        <p:spPr>
          <a:xfrm>
            <a:off x="8092592" y="132588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0219A61B-2090-21DF-3339-0CBC1F0287F6}"/>
              </a:ext>
            </a:extLst>
          </p:cNvPr>
          <p:cNvSpPr/>
          <p:nvPr/>
        </p:nvSpPr>
        <p:spPr>
          <a:xfrm>
            <a:off x="8092592" y="1325880"/>
            <a:ext cx="73152" cy="1371600"/>
          </a:xfrm>
          <a:prstGeom prst="rect">
            <a:avLst/>
          </a:prstGeom>
          <a:solidFill>
            <a:srgbClr val="2B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2D0FD67E-8A18-4F2D-3E1C-8FD2BF343C37}"/>
              </a:ext>
            </a:extLst>
          </p:cNvPr>
          <p:cNvSpPr txBox="1"/>
          <p:nvPr/>
        </p:nvSpPr>
        <p:spPr>
          <a:xfrm>
            <a:off x="8293760" y="14904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Brute Force</a:t>
            </a: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E5DD2F9C-95F6-87BE-8D6A-F16EE119375B}"/>
              </a:ext>
            </a:extLst>
          </p:cNvPr>
          <p:cNvSpPr txBox="1"/>
          <p:nvPr/>
        </p:nvSpPr>
        <p:spPr>
          <a:xfrm>
            <a:off x="8258510" y="1830970"/>
            <a:ext cx="3017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Thử</a:t>
            </a:r>
            <a:r>
              <a:rPr sz="1600" dirty="0"/>
              <a:t> </a:t>
            </a:r>
            <a:r>
              <a:rPr sz="1600" dirty="0" err="1"/>
              <a:t>đăng</a:t>
            </a:r>
            <a:r>
              <a:rPr sz="1600" dirty="0"/>
              <a:t> </a:t>
            </a:r>
            <a:r>
              <a:rPr sz="1600" dirty="0" err="1"/>
              <a:t>nhập</a:t>
            </a:r>
            <a:r>
              <a:rPr sz="1600" dirty="0"/>
              <a:t> </a:t>
            </a:r>
            <a:r>
              <a:rPr sz="1600" dirty="0" err="1"/>
              <a:t>lặp</a:t>
            </a:r>
            <a:r>
              <a:rPr sz="1600" dirty="0"/>
              <a:t> </a:t>
            </a:r>
            <a:r>
              <a:rPr sz="1600" dirty="0" err="1"/>
              <a:t>lại</a:t>
            </a:r>
            <a:r>
              <a:rPr sz="1600" dirty="0"/>
              <a:t> </a:t>
            </a:r>
            <a:r>
              <a:rPr sz="1600" dirty="0" err="1"/>
              <a:t>với</a:t>
            </a:r>
            <a:r>
              <a:rPr sz="1600" dirty="0"/>
              <a:t> </a:t>
            </a:r>
            <a:r>
              <a:rPr sz="1600" dirty="0" err="1"/>
              <a:t>tần</a:t>
            </a:r>
            <a:r>
              <a:rPr sz="1600" dirty="0"/>
              <a:t> </a:t>
            </a:r>
            <a:r>
              <a:rPr sz="1600" dirty="0" err="1"/>
              <a:t>suất</a:t>
            </a:r>
            <a:r>
              <a:rPr sz="1600" dirty="0"/>
              <a:t> </a:t>
            </a:r>
            <a:r>
              <a:rPr sz="1600" dirty="0" err="1"/>
              <a:t>cao</a:t>
            </a:r>
            <a:r>
              <a:rPr sz="1600" dirty="0"/>
              <a:t> </a:t>
            </a:r>
            <a:r>
              <a:rPr sz="1600" dirty="0" err="1"/>
              <a:t>nhằm</a:t>
            </a:r>
            <a:r>
              <a:rPr sz="1600" dirty="0"/>
              <a:t> </a:t>
            </a:r>
            <a:r>
              <a:rPr sz="1600" dirty="0" err="1"/>
              <a:t>chiếm</a:t>
            </a:r>
            <a:r>
              <a:rPr sz="1600" dirty="0"/>
              <a:t> </a:t>
            </a:r>
            <a:r>
              <a:rPr sz="1600" dirty="0" err="1"/>
              <a:t>quyền</a:t>
            </a:r>
            <a:r>
              <a:rPr sz="1600" dirty="0"/>
              <a:t> </a:t>
            </a:r>
            <a:r>
              <a:rPr sz="1600" dirty="0" err="1"/>
              <a:t>truy</a:t>
            </a:r>
            <a:r>
              <a:rPr sz="1600" dirty="0"/>
              <a:t> </a:t>
            </a:r>
            <a:r>
              <a:rPr sz="1600" dirty="0" err="1"/>
              <a:t>cập</a:t>
            </a:r>
            <a:r>
              <a:rPr sz="1600" dirty="0"/>
              <a:t>.</a:t>
            </a: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B27CE19B-56AA-632C-090A-51A930BD51F9}"/>
              </a:ext>
            </a:extLst>
          </p:cNvPr>
          <p:cNvSpPr txBox="1"/>
          <p:nvPr/>
        </p:nvSpPr>
        <p:spPr>
          <a:xfrm>
            <a:off x="612800" y="3226768"/>
            <a:ext cx="10515600" cy="151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242B36"/>
                </a:solidFill>
                <a:latin typeface="Aptos"/>
              </a:defRPr>
            </a:pP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signature-based </a:t>
            </a:r>
            <a:r>
              <a:rPr dirty="0" err="1"/>
              <a:t>như</a:t>
            </a:r>
            <a:r>
              <a:rPr dirty="0"/>
              <a:t> Snort/Suricata </a:t>
            </a:r>
            <a:r>
              <a:rPr dirty="0" err="1"/>
              <a:t>phụ</a:t>
            </a:r>
            <a:r>
              <a:rPr dirty="0"/>
              <a:t> </a:t>
            </a:r>
            <a:r>
              <a:rPr dirty="0" err="1"/>
              <a:t>thuộc</a:t>
            </a:r>
            <a:r>
              <a:rPr dirty="0"/>
              <a:t> </a:t>
            </a:r>
            <a:r>
              <a:rPr dirty="0" err="1"/>
              <a:t>luật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khó</a:t>
            </a:r>
            <a:r>
              <a:rPr dirty="0"/>
              <a:t> </a:t>
            </a:r>
            <a:r>
              <a:rPr dirty="0" err="1"/>
              <a:t>thích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biến</a:t>
            </a:r>
            <a:r>
              <a:rPr dirty="0"/>
              <a:t> </a:t>
            </a:r>
            <a:r>
              <a:rPr dirty="0" err="1"/>
              <a:t>thể</a:t>
            </a:r>
            <a:r>
              <a:rPr dirty="0"/>
              <a:t> </a:t>
            </a:r>
            <a:r>
              <a:rPr dirty="0" err="1"/>
              <a:t>mới</a:t>
            </a:r>
            <a:r>
              <a:rPr dirty="0"/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242B36"/>
                </a:solidFill>
                <a:latin typeface="Aptos"/>
              </a:defRPr>
            </a:pPr>
            <a:r>
              <a:rPr dirty="0"/>
              <a:t>Lưu </a:t>
            </a:r>
            <a:r>
              <a:rPr dirty="0" err="1"/>
              <a:t>lượng</a:t>
            </a:r>
            <a:r>
              <a:rPr dirty="0"/>
              <a:t> TLS/HTTPS </a:t>
            </a:r>
            <a:r>
              <a:rPr dirty="0" err="1"/>
              <a:t>làm</a:t>
            </a:r>
            <a:r>
              <a:rPr dirty="0"/>
              <a:t> </a:t>
            </a:r>
            <a:r>
              <a:rPr dirty="0" err="1"/>
              <a:t>giảm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payload </a:t>
            </a:r>
            <a:r>
              <a:rPr dirty="0" err="1"/>
              <a:t>bằng</a:t>
            </a:r>
            <a:r>
              <a:rPr dirty="0"/>
              <a:t> DPI.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242B36"/>
                </a:solidFill>
                <a:latin typeface="Aptos"/>
              </a:defRPr>
            </a:pPr>
            <a:r>
              <a:rPr dirty="0" err="1"/>
              <a:t>Quá</a:t>
            </a: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</a:t>
            </a:r>
            <a:r>
              <a:rPr dirty="0" err="1"/>
              <a:t>cảnh</a:t>
            </a:r>
            <a:r>
              <a:rPr dirty="0"/>
              <a:t> </a:t>
            </a: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thể</a:t>
            </a:r>
            <a:r>
              <a:rPr dirty="0"/>
              <a:t> </a:t>
            </a:r>
            <a:r>
              <a:rPr dirty="0" err="1"/>
              <a:t>gây</a:t>
            </a:r>
            <a:r>
              <a:rPr dirty="0"/>
              <a:t> Alert Fatigue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tăng</a:t>
            </a:r>
            <a:r>
              <a:rPr dirty="0"/>
              <a:t> False Positive.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242B36"/>
                </a:solidFill>
                <a:latin typeface="Aptos"/>
              </a:defRPr>
            </a:pP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tới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vi </a:t>
            </a:r>
            <a:r>
              <a:rPr dirty="0" err="1"/>
              <a:t>luồng</a:t>
            </a:r>
            <a:r>
              <a:rPr dirty="0"/>
              <a:t> </a:t>
            </a:r>
            <a:r>
              <a:rPr dirty="0" err="1"/>
              <a:t>mạng</a:t>
            </a:r>
            <a:r>
              <a:rPr dirty="0"/>
              <a:t> </a:t>
            </a:r>
            <a:r>
              <a:rPr dirty="0" err="1"/>
              <a:t>thay</a:t>
            </a:r>
            <a:r>
              <a:rPr dirty="0"/>
              <a:t> </a:t>
            </a:r>
            <a:r>
              <a:rPr dirty="0" err="1"/>
              <a:t>vì</a:t>
            </a:r>
            <a:r>
              <a:rPr dirty="0"/>
              <a:t> </a:t>
            </a:r>
            <a:r>
              <a:rPr dirty="0" err="1"/>
              <a:t>nội</a:t>
            </a:r>
            <a:r>
              <a:rPr dirty="0"/>
              <a:t> dung </a:t>
            </a:r>
            <a:r>
              <a:rPr dirty="0" err="1"/>
              <a:t>gói</a:t>
            </a:r>
            <a:r>
              <a:rPr dirty="0"/>
              <a:t> tin.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3558" y="158451"/>
            <a:ext cx="1016147" cy="6381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" name="Google Shape;259;p5"/>
          <p:cNvCxnSpPr/>
          <p:nvPr/>
        </p:nvCxnSpPr>
        <p:spPr>
          <a:xfrm>
            <a:off x="0" y="839624"/>
            <a:ext cx="10800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260" name="Google Shape;260;p5"/>
          <p:cNvSpPr txBox="1"/>
          <p:nvPr/>
        </p:nvSpPr>
        <p:spPr>
          <a:xfrm>
            <a:off x="192295" y="233970"/>
            <a:ext cx="912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vi-VN" sz="24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vi-VN" sz="24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Mục tiêu</a:t>
            </a:r>
            <a:r>
              <a:rPr lang="en-US" sz="24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đề</a:t>
            </a:r>
            <a:r>
              <a:rPr lang="en-US" sz="24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tài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"/>
          <p:cNvSpPr txBox="1"/>
          <p:nvPr/>
        </p:nvSpPr>
        <p:spPr>
          <a:xfrm>
            <a:off x="11237934" y="6481425"/>
            <a:ext cx="83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dirty="0"/>
              <a:t>4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dirty="0"/>
          </a:p>
        </p:txBody>
      </p:sp>
      <p:sp>
        <p:nvSpPr>
          <p:cNvPr id="262" name="Google Shape;262;p5"/>
          <p:cNvSpPr txBox="1"/>
          <p:nvPr/>
        </p:nvSpPr>
        <p:spPr>
          <a:xfrm>
            <a:off x="615949" y="6478270"/>
            <a:ext cx="149798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dirty="0">
                <a:solidFill>
                  <a:schemeClr val="dk1"/>
                </a:solidFill>
              </a:rPr>
              <a:t>03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635064-0925-8E79-52C7-EE22C4DC550B}"/>
              </a:ext>
            </a:extLst>
          </p:cNvPr>
          <p:cNvSpPr/>
          <p:nvPr/>
        </p:nvSpPr>
        <p:spPr>
          <a:xfrm>
            <a:off x="152" y="0"/>
            <a:ext cx="12191695" cy="109728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5F4A52-0250-3ED1-6918-32AD04F7CC30}"/>
              </a:ext>
            </a:extLst>
          </p:cNvPr>
          <p:cNvSpPr txBox="1"/>
          <p:nvPr/>
        </p:nvSpPr>
        <p:spPr>
          <a:xfrm>
            <a:off x="612800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050" dirty="0" err="1">
                <a:solidFill>
                  <a:srgbClr val="5C6674"/>
                </a:solidFill>
                <a:latin typeface="Aptos"/>
              </a:rPr>
              <a:t>Bài</a:t>
            </a:r>
            <a:r>
              <a:rPr sz="1050" dirty="0">
                <a:solidFill>
                  <a:srgbClr val="5C6674"/>
                </a:solidFill>
                <a:latin typeface="Aptos"/>
              </a:rPr>
              <a:t> </a:t>
            </a:r>
            <a:r>
              <a:rPr sz="1050" dirty="0" err="1">
                <a:solidFill>
                  <a:srgbClr val="5C6674"/>
                </a:solidFill>
                <a:latin typeface="Aptos"/>
              </a:rPr>
              <a:t>toán</a:t>
            </a:r>
            <a:r>
              <a:rPr sz="1050" dirty="0">
                <a:solidFill>
                  <a:srgbClr val="5C6674"/>
                </a:solidFill>
                <a:latin typeface="Aptos"/>
              </a:rPr>
              <a:t> </a:t>
            </a:r>
            <a:r>
              <a:rPr sz="1050" dirty="0" err="1">
                <a:solidFill>
                  <a:srgbClr val="5C6674"/>
                </a:solidFill>
                <a:latin typeface="Aptos"/>
              </a:rPr>
              <a:t>phân</a:t>
            </a:r>
            <a:r>
              <a:rPr sz="1050" dirty="0">
                <a:solidFill>
                  <a:srgbClr val="5C6674"/>
                </a:solidFill>
                <a:latin typeface="Aptos"/>
              </a:rPr>
              <a:t> </a:t>
            </a:r>
            <a:r>
              <a:rPr sz="1050" dirty="0" err="1">
                <a:solidFill>
                  <a:srgbClr val="5C6674"/>
                </a:solidFill>
                <a:latin typeface="Aptos"/>
              </a:rPr>
              <a:t>loại</a:t>
            </a:r>
            <a:r>
              <a:rPr sz="1050" dirty="0">
                <a:solidFill>
                  <a:srgbClr val="5C6674"/>
                </a:solidFill>
                <a:latin typeface="Aptos"/>
              </a:rPr>
              <a:t> </a:t>
            </a:r>
            <a:r>
              <a:rPr sz="1050" dirty="0" err="1">
                <a:solidFill>
                  <a:srgbClr val="5C6674"/>
                </a:solidFill>
                <a:latin typeface="Aptos"/>
              </a:rPr>
              <a:t>đa</a:t>
            </a:r>
            <a:r>
              <a:rPr sz="1050" dirty="0">
                <a:solidFill>
                  <a:srgbClr val="5C6674"/>
                </a:solidFill>
                <a:latin typeface="Aptos"/>
              </a:rPr>
              <a:t> </a:t>
            </a:r>
            <a:r>
              <a:rPr sz="1050" dirty="0" err="1">
                <a:solidFill>
                  <a:srgbClr val="5C6674"/>
                </a:solidFill>
                <a:latin typeface="Aptos"/>
              </a:rPr>
              <a:t>lớp</a:t>
            </a:r>
            <a:r>
              <a:rPr sz="1050" dirty="0">
                <a:solidFill>
                  <a:srgbClr val="5C6674"/>
                </a:solidFill>
                <a:latin typeface="Aptos"/>
              </a:rPr>
              <a:t> </a:t>
            </a:r>
            <a:r>
              <a:rPr sz="1050" dirty="0" err="1">
                <a:solidFill>
                  <a:srgbClr val="5C6674"/>
                </a:solidFill>
                <a:latin typeface="Aptos"/>
              </a:rPr>
              <a:t>trên</a:t>
            </a:r>
            <a:r>
              <a:rPr sz="1050" dirty="0">
                <a:solidFill>
                  <a:srgbClr val="5C6674"/>
                </a:solidFill>
                <a:latin typeface="Aptos"/>
              </a:rPr>
              <a:t> </a:t>
            </a:r>
            <a:r>
              <a:rPr sz="1050" dirty="0" err="1">
                <a:solidFill>
                  <a:srgbClr val="5C6674"/>
                </a:solidFill>
                <a:latin typeface="Aptos"/>
              </a:rPr>
              <a:t>đặc</a:t>
            </a:r>
            <a:r>
              <a:rPr sz="1050" dirty="0">
                <a:solidFill>
                  <a:srgbClr val="5C6674"/>
                </a:solidFill>
                <a:latin typeface="Aptos"/>
              </a:rPr>
              <a:t> </a:t>
            </a:r>
            <a:r>
              <a:rPr sz="1050" dirty="0" err="1">
                <a:solidFill>
                  <a:srgbClr val="5C6674"/>
                </a:solidFill>
                <a:latin typeface="Aptos"/>
              </a:rPr>
              <a:t>trưng</a:t>
            </a:r>
            <a:r>
              <a:rPr sz="1050" dirty="0">
                <a:solidFill>
                  <a:srgbClr val="5C6674"/>
                </a:solidFill>
                <a:latin typeface="Aptos"/>
              </a:rPr>
              <a:t> </a:t>
            </a:r>
            <a:r>
              <a:rPr sz="1050" dirty="0" err="1">
                <a:solidFill>
                  <a:srgbClr val="5C6674"/>
                </a:solidFill>
                <a:latin typeface="Aptos"/>
              </a:rPr>
              <a:t>luồng</a:t>
            </a:r>
            <a:r>
              <a:rPr sz="1050" dirty="0">
                <a:solidFill>
                  <a:srgbClr val="5C6674"/>
                </a:solidFill>
                <a:latin typeface="Aptos"/>
              </a:rPr>
              <a:t> </a:t>
            </a:r>
            <a:r>
              <a:rPr sz="1050" dirty="0" err="1">
                <a:solidFill>
                  <a:srgbClr val="5C6674"/>
                </a:solidFill>
                <a:latin typeface="Aptos"/>
              </a:rPr>
              <a:t>mạng</a:t>
            </a:r>
            <a:endParaRPr sz="1050" dirty="0">
              <a:solidFill>
                <a:srgbClr val="5C6674"/>
              </a:solidFill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A06D1C-EC7A-2AAC-8761-707479860B4E}"/>
              </a:ext>
            </a:extLst>
          </p:cNvPr>
          <p:cNvSpPr txBox="1"/>
          <p:nvPr/>
        </p:nvSpPr>
        <p:spPr>
          <a:xfrm>
            <a:off x="11384432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>
                <a:solidFill>
                  <a:srgbClr val="5C6674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5004BF3-509A-EDF3-990E-26D98C6763DB}"/>
              </a:ext>
            </a:extLst>
          </p:cNvPr>
          <p:cNvSpPr/>
          <p:nvPr/>
        </p:nvSpPr>
        <p:spPr>
          <a:xfrm>
            <a:off x="685952" y="132588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8FE0B7-ED54-3114-7E64-4BE8ED2F8A15}"/>
              </a:ext>
            </a:extLst>
          </p:cNvPr>
          <p:cNvSpPr/>
          <p:nvPr/>
        </p:nvSpPr>
        <p:spPr>
          <a:xfrm>
            <a:off x="685952" y="1325880"/>
            <a:ext cx="73152" cy="1828800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D307E9-DC2E-5F95-57FE-FB2540F0F8DB}"/>
              </a:ext>
            </a:extLst>
          </p:cNvPr>
          <p:cNvSpPr txBox="1"/>
          <p:nvPr/>
        </p:nvSpPr>
        <p:spPr>
          <a:xfrm>
            <a:off x="887120" y="1490472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700" b="1">
                <a:solidFill>
                  <a:srgbClr val="142749"/>
                </a:solidFill>
                <a:latin typeface="Aptos"/>
              </a:rPr>
              <a:t>Mục tiêu nghiên cứu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031CD5-B566-64BE-6595-DFE1C49B241C}"/>
              </a:ext>
            </a:extLst>
          </p:cNvPr>
          <p:cNvSpPr txBox="1"/>
          <p:nvPr/>
        </p:nvSpPr>
        <p:spPr>
          <a:xfrm>
            <a:off x="887120" y="1920240"/>
            <a:ext cx="4937759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>
                <a:solidFill>
                  <a:srgbClr val="242B36"/>
                </a:solidFill>
                <a:latin typeface="Aptos"/>
              </a:defRPr>
            </a:pPr>
            <a:r>
              <a:rPr sz="1600"/>
              <a:t>Xây dựng hướng tiếp cận học máy để giám sát, phát hiện và phân loại bất thường trong mạng doanh nghiệp; đánh giá khả năng tổng quát hóa trên nhiều bộ dữ liệu và kiểm chứng bằng dữ liệu Lab.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7D0ECE3-D3A8-6EFE-0A37-5E89DB86BDBC}"/>
              </a:ext>
            </a:extLst>
          </p:cNvPr>
          <p:cNvSpPr/>
          <p:nvPr/>
        </p:nvSpPr>
        <p:spPr>
          <a:xfrm>
            <a:off x="6218072" y="132588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B349DF-D343-AC3B-EA5C-84C31FF52466}"/>
              </a:ext>
            </a:extLst>
          </p:cNvPr>
          <p:cNvSpPr/>
          <p:nvPr/>
        </p:nvSpPr>
        <p:spPr>
          <a:xfrm>
            <a:off x="6218072" y="1325880"/>
            <a:ext cx="73152" cy="1828800"/>
          </a:xfrm>
          <a:prstGeom prst="rect">
            <a:avLst/>
          </a:prstGeom>
          <a:solidFill>
            <a:srgbClr val="2B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B24C2C-32CE-EC17-85AC-AE72EB9641C1}"/>
              </a:ext>
            </a:extLst>
          </p:cNvPr>
          <p:cNvSpPr txBox="1"/>
          <p:nvPr/>
        </p:nvSpPr>
        <p:spPr>
          <a:xfrm>
            <a:off x="6419240" y="1490472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700" b="1">
                <a:solidFill>
                  <a:srgbClr val="142749"/>
                </a:solidFill>
                <a:latin typeface="Aptos"/>
              </a:rPr>
              <a:t>Phạm vi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F4DA15-9892-CC4C-0929-B8A40CDE1407}"/>
              </a:ext>
            </a:extLst>
          </p:cNvPr>
          <p:cNvSpPr txBox="1"/>
          <p:nvPr/>
        </p:nvSpPr>
        <p:spPr>
          <a:xfrm>
            <a:off x="6419240" y="1920240"/>
            <a:ext cx="49377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Tập</a:t>
            </a:r>
            <a:r>
              <a:rPr sz="1600" dirty="0"/>
              <a:t> </a:t>
            </a:r>
            <a:r>
              <a:rPr sz="1600" dirty="0" err="1"/>
              <a:t>trung</a:t>
            </a:r>
            <a:r>
              <a:rPr sz="1600" dirty="0"/>
              <a:t> 3 </a:t>
            </a:r>
            <a:r>
              <a:rPr sz="1600" dirty="0" err="1"/>
              <a:t>nhóm</a:t>
            </a:r>
            <a:r>
              <a:rPr sz="1600" dirty="0"/>
              <a:t> </a:t>
            </a:r>
            <a:r>
              <a:rPr sz="1600" dirty="0" err="1"/>
              <a:t>tấn</a:t>
            </a:r>
            <a:r>
              <a:rPr sz="1600" dirty="0"/>
              <a:t> </a:t>
            </a:r>
            <a:r>
              <a:rPr sz="1600" dirty="0" err="1"/>
              <a:t>công</a:t>
            </a:r>
            <a:r>
              <a:rPr sz="1600" dirty="0"/>
              <a:t>: DoS/DDoS, Port Scan, Brute Force. </a:t>
            </a:r>
            <a:r>
              <a:rPr sz="1600" dirty="0" err="1"/>
              <a:t>Hệ</a:t>
            </a:r>
            <a:r>
              <a:rPr sz="1600" dirty="0"/>
              <a:t> </a:t>
            </a:r>
            <a:r>
              <a:rPr sz="1600" dirty="0" err="1"/>
              <a:t>thống</a:t>
            </a:r>
            <a:r>
              <a:rPr sz="1600" dirty="0"/>
              <a:t> </a:t>
            </a:r>
            <a:r>
              <a:rPr sz="1600" dirty="0" err="1"/>
              <a:t>phục</a:t>
            </a:r>
            <a:r>
              <a:rPr sz="1600" dirty="0"/>
              <a:t> </a:t>
            </a:r>
            <a:r>
              <a:rPr sz="1600" dirty="0" err="1"/>
              <a:t>vụ</a:t>
            </a:r>
            <a:r>
              <a:rPr sz="1600" dirty="0"/>
              <a:t> </a:t>
            </a:r>
            <a:r>
              <a:rPr sz="1600" dirty="0" err="1"/>
              <a:t>phát</a:t>
            </a:r>
            <a:r>
              <a:rPr sz="1600" dirty="0"/>
              <a:t> </a:t>
            </a:r>
            <a:r>
              <a:rPr sz="1600" dirty="0" err="1"/>
              <a:t>hiện</a:t>
            </a:r>
            <a:r>
              <a:rPr sz="1600" dirty="0"/>
              <a:t> </a:t>
            </a:r>
            <a:r>
              <a:rPr sz="1600" dirty="0" err="1"/>
              <a:t>và</a:t>
            </a:r>
            <a:r>
              <a:rPr sz="1600" dirty="0"/>
              <a:t> </a:t>
            </a:r>
            <a:r>
              <a:rPr sz="1600" dirty="0" err="1"/>
              <a:t>cảnh</a:t>
            </a:r>
            <a:r>
              <a:rPr sz="1600" dirty="0"/>
              <a:t> </a:t>
            </a:r>
            <a:r>
              <a:rPr sz="1600" dirty="0" err="1"/>
              <a:t>báo</a:t>
            </a:r>
            <a:r>
              <a:rPr sz="1600" dirty="0"/>
              <a:t>; </a:t>
            </a:r>
            <a:r>
              <a:rPr sz="1600" dirty="0" err="1"/>
              <a:t>không</a:t>
            </a:r>
            <a:r>
              <a:rPr sz="1600" dirty="0"/>
              <a:t> </a:t>
            </a:r>
            <a:r>
              <a:rPr sz="1600" dirty="0" err="1"/>
              <a:t>đặt</a:t>
            </a:r>
            <a:r>
              <a:rPr sz="1600" dirty="0"/>
              <a:t> </a:t>
            </a:r>
            <a:r>
              <a:rPr sz="1600" dirty="0" err="1"/>
              <a:t>trọng</a:t>
            </a:r>
            <a:r>
              <a:rPr sz="1600" dirty="0"/>
              <a:t> </a:t>
            </a:r>
            <a:r>
              <a:rPr sz="1600" dirty="0" err="1"/>
              <a:t>tâm</a:t>
            </a:r>
            <a:r>
              <a:rPr sz="1600" dirty="0"/>
              <a:t> </a:t>
            </a:r>
            <a:r>
              <a:rPr sz="1600" dirty="0" err="1"/>
              <a:t>vào</a:t>
            </a:r>
            <a:r>
              <a:rPr sz="1600" dirty="0"/>
              <a:t> </a:t>
            </a:r>
            <a:r>
              <a:rPr sz="1600" dirty="0" err="1"/>
              <a:t>chức</a:t>
            </a:r>
            <a:r>
              <a:rPr sz="1600" dirty="0"/>
              <a:t> </a:t>
            </a:r>
            <a:r>
              <a:rPr sz="1600" dirty="0" err="1"/>
              <a:t>năng</a:t>
            </a:r>
            <a:r>
              <a:rPr sz="1600" dirty="0"/>
              <a:t> IPS </a:t>
            </a:r>
            <a:r>
              <a:rPr sz="1600" dirty="0" err="1"/>
              <a:t>tự</a:t>
            </a:r>
            <a:r>
              <a:rPr sz="1600" dirty="0"/>
              <a:t> </a:t>
            </a:r>
            <a:r>
              <a:rPr sz="1600" dirty="0" err="1"/>
              <a:t>động</a:t>
            </a:r>
            <a:r>
              <a:rPr sz="1600" dirty="0"/>
              <a:t> </a:t>
            </a:r>
            <a:r>
              <a:rPr sz="1600" dirty="0" err="1"/>
              <a:t>chặn</a:t>
            </a:r>
            <a:r>
              <a:rPr sz="1600" dirty="0"/>
              <a:t>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C720541-3679-5B59-8307-CDECE8FCA05C}"/>
              </a:ext>
            </a:extLst>
          </p:cNvPr>
          <p:cNvSpPr/>
          <p:nvPr/>
        </p:nvSpPr>
        <p:spPr>
          <a:xfrm>
            <a:off x="960272" y="3840480"/>
            <a:ext cx="2240280" cy="438912"/>
          </a:xfrm>
          <a:prstGeom prst="roundRect">
            <a:avLst/>
          </a:prstGeom>
          <a:solidFill>
            <a:srgbClr val="31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BENIGN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AC8A5EA-4873-5311-4287-0F1F65741D42}"/>
              </a:ext>
            </a:extLst>
          </p:cNvPr>
          <p:cNvSpPr/>
          <p:nvPr/>
        </p:nvSpPr>
        <p:spPr>
          <a:xfrm>
            <a:off x="3703472" y="3840480"/>
            <a:ext cx="2240280" cy="438912"/>
          </a:xfrm>
          <a:prstGeom prst="roundRect">
            <a:avLst/>
          </a:prstGeom>
          <a:solidFill>
            <a:srgbClr val="AD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DDOS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E223484-7C09-D85B-B91F-25E653F50B31}"/>
              </a:ext>
            </a:extLst>
          </p:cNvPr>
          <p:cNvSpPr/>
          <p:nvPr/>
        </p:nvSpPr>
        <p:spPr>
          <a:xfrm>
            <a:off x="6446672" y="3840480"/>
            <a:ext cx="2240280" cy="438912"/>
          </a:xfrm>
          <a:prstGeom prst="roundRect">
            <a:avLst/>
          </a:prstGeom>
          <a:solidFill>
            <a:srgbClr val="C17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PORTSCAN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B052348-7D40-F57C-5ABF-60EA9C007747}"/>
              </a:ext>
            </a:extLst>
          </p:cNvPr>
          <p:cNvSpPr/>
          <p:nvPr/>
        </p:nvSpPr>
        <p:spPr>
          <a:xfrm>
            <a:off x="9189872" y="3840480"/>
            <a:ext cx="2240280" cy="438912"/>
          </a:xfrm>
          <a:prstGeom prst="roundRect">
            <a:avLst/>
          </a:prstGeom>
          <a:solidFill>
            <a:srgbClr val="2B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BRUTEFORCE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3558" y="158451"/>
            <a:ext cx="1016148" cy="6381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6"/>
          <p:cNvCxnSpPr/>
          <p:nvPr/>
        </p:nvCxnSpPr>
        <p:spPr>
          <a:xfrm>
            <a:off x="0" y="839624"/>
            <a:ext cx="10800678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270" name="Google Shape;270;p6"/>
          <p:cNvSpPr txBox="1"/>
          <p:nvPr/>
        </p:nvSpPr>
        <p:spPr>
          <a:xfrm>
            <a:off x="462804" y="171128"/>
            <a:ext cx="912682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vi-VN" sz="2400" b="1" dirty="0">
                <a:solidFill>
                  <a:srgbClr val="0070C0"/>
                </a:solidFill>
              </a:rPr>
              <a:t>3</a:t>
            </a:r>
            <a:r>
              <a:rPr lang="en-US" sz="24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vi-VN" sz="24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Hướng tiếp cận </a:t>
            </a:r>
            <a:r>
              <a:rPr lang="vi-VN" sz="24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Flow-based</a:t>
            </a:r>
            <a:r>
              <a:rPr lang="vi-VN" sz="24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24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Machine</a:t>
            </a:r>
            <a:r>
              <a:rPr lang="vi-VN" sz="24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2400" b="1" i="0" u="none" strike="noStrike" cap="none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Learning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6"/>
          <p:cNvSpPr txBox="1"/>
          <p:nvPr/>
        </p:nvSpPr>
        <p:spPr>
          <a:xfrm>
            <a:off x="11237934" y="6481425"/>
            <a:ext cx="83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dirty="0"/>
              <a:t>5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dirty="0"/>
          </a:p>
        </p:txBody>
      </p:sp>
      <p:sp>
        <p:nvSpPr>
          <p:cNvPr id="273" name="Google Shape;273;p6"/>
          <p:cNvSpPr txBox="1"/>
          <p:nvPr/>
        </p:nvSpPr>
        <p:spPr>
          <a:xfrm>
            <a:off x="615949" y="6478270"/>
            <a:ext cx="15373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dirty="0">
                <a:solidFill>
                  <a:schemeClr val="dk1"/>
                </a:solidFill>
              </a:rPr>
              <a:t>03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60EDC3-AF6A-E07D-18D2-7B27811935A7}"/>
              </a:ext>
            </a:extLst>
          </p:cNvPr>
          <p:cNvSpPr/>
          <p:nvPr/>
        </p:nvSpPr>
        <p:spPr>
          <a:xfrm>
            <a:off x="152" y="0"/>
            <a:ext cx="12191695" cy="109728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A5EEE-872F-DA4D-CCF5-05A07C11DA55}"/>
              </a:ext>
            </a:extLst>
          </p:cNvPr>
          <p:cNvSpPr txBox="1"/>
          <p:nvPr/>
        </p:nvSpPr>
        <p:spPr>
          <a:xfrm>
            <a:off x="612800" y="841248"/>
            <a:ext cx="337784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dirty="0" err="1">
                <a:solidFill>
                  <a:srgbClr val="5C6674"/>
                </a:solidFill>
                <a:latin typeface="Aptos"/>
              </a:rPr>
              <a:t>Phân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tích</a:t>
            </a:r>
            <a:r>
              <a:rPr sz="1200" dirty="0">
                <a:solidFill>
                  <a:srgbClr val="5C6674"/>
                </a:solidFill>
                <a:latin typeface="Aptos"/>
              </a:rPr>
              <a:t> metadata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thống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kê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thay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vì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đọc</a:t>
            </a:r>
            <a:r>
              <a:rPr sz="1200" dirty="0">
                <a:solidFill>
                  <a:srgbClr val="5C6674"/>
                </a:solidFill>
                <a:latin typeface="Aptos"/>
              </a:rPr>
              <a:t> payload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CC45AA-5C46-D01A-94F1-F718B37575C2}"/>
              </a:ext>
            </a:extLst>
          </p:cNvPr>
          <p:cNvSpPr txBox="1"/>
          <p:nvPr/>
        </p:nvSpPr>
        <p:spPr>
          <a:xfrm>
            <a:off x="11384432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>
                <a:solidFill>
                  <a:srgbClr val="5C6674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0ADDA0A-7359-4112-9CCA-D721E45A101C}"/>
              </a:ext>
            </a:extLst>
          </p:cNvPr>
          <p:cNvSpPr/>
          <p:nvPr/>
        </p:nvSpPr>
        <p:spPr>
          <a:xfrm>
            <a:off x="503072" y="1965960"/>
            <a:ext cx="1508760" cy="1234440"/>
          </a:xfrm>
          <a:prstGeom prst="roundRect">
            <a:avLst/>
          </a:prstGeom>
          <a:solidFill>
            <a:srgbClr val="14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Mirror/SPAN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Aptos"/>
              </a:rPr>
              <a:t>Thu thập lưu lượng</a:t>
            </a:r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6AAD4248-0145-FAB8-FF0B-2AC68FCE0F62}"/>
              </a:ext>
            </a:extLst>
          </p:cNvPr>
          <p:cNvCxnSpPr/>
          <p:nvPr/>
        </p:nvCxnSpPr>
        <p:spPr>
          <a:xfrm>
            <a:off x="2039264" y="2578608"/>
            <a:ext cx="320040" cy="0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B9F90E0-E0EA-E32A-AEA2-717DF53101EF}"/>
              </a:ext>
            </a:extLst>
          </p:cNvPr>
          <p:cNvSpPr/>
          <p:nvPr/>
        </p:nvSpPr>
        <p:spPr>
          <a:xfrm>
            <a:off x="2405024" y="1965960"/>
            <a:ext cx="1508760" cy="1234440"/>
          </a:xfrm>
          <a:prstGeom prst="roundRect">
            <a:avLst/>
          </a:prstGeom>
          <a:solidFill>
            <a:srgbClr val="2B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CICFlowMeter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Aptos"/>
              </a:rPr>
              <a:t>Trích xuất đặc trưng</a:t>
            </a:r>
          </a:p>
        </p:txBody>
      </p: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8EA1B520-AA7A-65C7-BA23-531DF35F9E28}"/>
              </a:ext>
            </a:extLst>
          </p:cNvPr>
          <p:cNvCxnSpPr/>
          <p:nvPr/>
        </p:nvCxnSpPr>
        <p:spPr>
          <a:xfrm>
            <a:off x="3941215" y="2578608"/>
            <a:ext cx="320041" cy="0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8333FC5-EDC9-A0AA-A769-FEC58DE85062}"/>
              </a:ext>
            </a:extLst>
          </p:cNvPr>
          <p:cNvSpPr/>
          <p:nvPr/>
        </p:nvSpPr>
        <p:spPr>
          <a:xfrm>
            <a:off x="4306976" y="1965960"/>
            <a:ext cx="1508760" cy="1234440"/>
          </a:xfrm>
          <a:prstGeom prst="round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Preprocess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Aptos"/>
              </a:rPr>
              <a:t>Làm sạch + Feature Engineering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8E755F2E-BFE8-5158-D3E7-C018EF449715}"/>
              </a:ext>
            </a:extLst>
          </p:cNvPr>
          <p:cNvCxnSpPr/>
          <p:nvPr/>
        </p:nvCxnSpPr>
        <p:spPr>
          <a:xfrm>
            <a:off x="5843168" y="2578608"/>
            <a:ext cx="320040" cy="0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8B82512-2A89-A203-DDB6-8E266EFB2F3B}"/>
              </a:ext>
            </a:extLst>
          </p:cNvPr>
          <p:cNvSpPr/>
          <p:nvPr/>
        </p:nvSpPr>
        <p:spPr>
          <a:xfrm>
            <a:off x="6208928" y="1965960"/>
            <a:ext cx="1508760" cy="1234440"/>
          </a:xfrm>
          <a:prstGeom prst="roundRect">
            <a:avLst/>
          </a:prstGeom>
          <a:solidFill>
            <a:srgbClr val="31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ML Inference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Aptos"/>
              </a:rPr>
              <a:t>Phân loại 4 lớp</a:t>
            </a: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ADA9E3E8-4C84-4E11-3DE1-B238ABCCEC16}"/>
              </a:ext>
            </a:extLst>
          </p:cNvPr>
          <p:cNvCxnSpPr/>
          <p:nvPr/>
        </p:nvCxnSpPr>
        <p:spPr>
          <a:xfrm>
            <a:off x="7745120" y="2578608"/>
            <a:ext cx="320040" cy="0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ABAC94E-0718-50D3-7F12-271F1BB06111}"/>
              </a:ext>
            </a:extLst>
          </p:cNvPr>
          <p:cNvSpPr/>
          <p:nvPr/>
        </p:nvSpPr>
        <p:spPr>
          <a:xfrm>
            <a:off x="8110880" y="1965960"/>
            <a:ext cx="1508760" cy="1234440"/>
          </a:xfrm>
          <a:prstGeom prst="roundRect">
            <a:avLst/>
          </a:prstGeom>
          <a:solidFill>
            <a:srgbClr val="C17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Correlation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Aptos"/>
              </a:rPr>
              <a:t>Gom cụm sự kiện</a:t>
            </a:r>
          </a:p>
        </p:txBody>
      </p: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05EA2C53-A735-40AC-8C66-FDE28D9EB931}"/>
              </a:ext>
            </a:extLst>
          </p:cNvPr>
          <p:cNvCxnSpPr/>
          <p:nvPr/>
        </p:nvCxnSpPr>
        <p:spPr>
          <a:xfrm>
            <a:off x="9647072" y="2578608"/>
            <a:ext cx="320040" cy="0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AE174A9-0794-D36F-F631-89CCEE6A7F18}"/>
              </a:ext>
            </a:extLst>
          </p:cNvPr>
          <p:cNvSpPr/>
          <p:nvPr/>
        </p:nvSpPr>
        <p:spPr>
          <a:xfrm>
            <a:off x="10012832" y="1965960"/>
            <a:ext cx="1508760" cy="1234440"/>
          </a:xfrm>
          <a:prstGeom prst="roundRect">
            <a:avLst/>
          </a:prstGeom>
          <a:solidFill>
            <a:srgbClr val="AD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Dashboard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Aptos"/>
              </a:rPr>
              <a:t>Cảnh báo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703D61-54A8-83A3-5D35-9320F7401B46}"/>
              </a:ext>
            </a:extLst>
          </p:cNvPr>
          <p:cNvSpPr txBox="1"/>
          <p:nvPr/>
        </p:nvSpPr>
        <p:spPr>
          <a:xfrm>
            <a:off x="823112" y="3886200"/>
            <a:ext cx="10515600" cy="10397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242B36"/>
                </a:solidFill>
                <a:latin typeface="Aptos"/>
              </a:defRPr>
            </a:pP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: </a:t>
            </a:r>
            <a:r>
              <a:rPr dirty="0" err="1"/>
              <a:t>hoạt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lưu</a:t>
            </a:r>
            <a:r>
              <a:rPr dirty="0"/>
              <a:t> </a:t>
            </a:r>
            <a:r>
              <a:rPr dirty="0" err="1"/>
              <a:t>lượng</a:t>
            </a:r>
            <a:r>
              <a:rPr dirty="0"/>
              <a:t> </a:t>
            </a: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, </a:t>
            </a:r>
            <a:r>
              <a:rPr dirty="0" err="1"/>
              <a:t>giảm</a:t>
            </a:r>
            <a:r>
              <a:rPr dirty="0"/>
              <a:t> </a:t>
            </a:r>
            <a:r>
              <a:rPr dirty="0" err="1"/>
              <a:t>khối</a:t>
            </a:r>
            <a:r>
              <a:rPr dirty="0"/>
              <a:t> </a:t>
            </a:r>
            <a:r>
              <a:rPr dirty="0" err="1"/>
              <a:t>lượng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, </a:t>
            </a:r>
            <a:r>
              <a:rPr dirty="0" err="1"/>
              <a:t>phù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tấn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tầng</a:t>
            </a:r>
            <a:r>
              <a:rPr dirty="0"/>
              <a:t> </a:t>
            </a:r>
            <a:r>
              <a:rPr dirty="0" err="1"/>
              <a:t>mạng</a:t>
            </a:r>
            <a:r>
              <a:rPr dirty="0"/>
              <a:t>/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vận</a:t>
            </a:r>
            <a:r>
              <a:rPr dirty="0"/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242B36"/>
                </a:solidFill>
                <a:latin typeface="Aptos"/>
              </a:defRPr>
            </a:pPr>
            <a:r>
              <a:rPr dirty="0" err="1"/>
              <a:t>Đặc</a:t>
            </a:r>
            <a:r>
              <a:rPr dirty="0"/>
              <a:t> </a:t>
            </a:r>
            <a:r>
              <a:rPr dirty="0" err="1"/>
              <a:t>trưng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</a:t>
            </a:r>
            <a:r>
              <a:rPr dirty="0" err="1"/>
              <a:t>biểu</a:t>
            </a:r>
            <a:r>
              <a:rPr dirty="0"/>
              <a:t>: Flow Duration, packet/byte counts, Flow Bytes/s, IAT, TCP flag counts…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242B36"/>
                </a:solidFill>
                <a:latin typeface="Aptos"/>
              </a:defRPr>
            </a:pPr>
            <a:r>
              <a:rPr dirty="0"/>
              <a:t>Các </a:t>
            </a:r>
            <a:r>
              <a:rPr dirty="0" err="1"/>
              <a:t>trường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nguy</a:t>
            </a:r>
            <a:r>
              <a:rPr dirty="0"/>
              <a:t> </a:t>
            </a:r>
            <a:r>
              <a:rPr dirty="0" err="1"/>
              <a:t>cơ</a:t>
            </a:r>
            <a:r>
              <a:rPr dirty="0"/>
              <a:t> leakage </a:t>
            </a:r>
            <a:r>
              <a:rPr dirty="0" err="1"/>
              <a:t>như</a:t>
            </a:r>
            <a:r>
              <a:rPr dirty="0"/>
              <a:t> IP, Flow ID, Timestamp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loại</a:t>
            </a:r>
            <a:r>
              <a:rPr dirty="0"/>
              <a:t> </a:t>
            </a:r>
            <a:r>
              <a:rPr dirty="0" err="1"/>
              <a:t>khỏi</a:t>
            </a:r>
            <a:r>
              <a:rPr dirty="0"/>
              <a:t> vector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máy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3558" y="158451"/>
            <a:ext cx="1016147" cy="6381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7"/>
          <p:cNvCxnSpPr/>
          <p:nvPr/>
        </p:nvCxnSpPr>
        <p:spPr>
          <a:xfrm>
            <a:off x="0" y="839624"/>
            <a:ext cx="10800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280" name="Google Shape;280;p7"/>
          <p:cNvSpPr txBox="1"/>
          <p:nvPr/>
        </p:nvSpPr>
        <p:spPr>
          <a:xfrm>
            <a:off x="421186" y="209948"/>
            <a:ext cx="9126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vi-VN" sz="2400" b="1" dirty="0">
                <a:solidFill>
                  <a:srgbClr val="0070C0"/>
                </a:solidFill>
              </a:rPr>
              <a:t>4. </a:t>
            </a:r>
            <a:r>
              <a:rPr lang="vi-VN" sz="24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Dữ liệu sử dụng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11237934" y="6481425"/>
            <a:ext cx="83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dirty="0"/>
          </a:p>
        </p:txBody>
      </p:sp>
      <p:sp>
        <p:nvSpPr>
          <p:cNvPr id="285" name="Google Shape;285;p7"/>
          <p:cNvSpPr txBox="1"/>
          <p:nvPr/>
        </p:nvSpPr>
        <p:spPr>
          <a:xfrm>
            <a:off x="615949" y="6478270"/>
            <a:ext cx="1379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dirty="0">
                <a:solidFill>
                  <a:schemeClr val="dk1"/>
                </a:solidFill>
              </a:rPr>
              <a:t>03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600221-52C4-104B-087A-5964CB135356}"/>
              </a:ext>
            </a:extLst>
          </p:cNvPr>
          <p:cNvSpPr/>
          <p:nvPr/>
        </p:nvSpPr>
        <p:spPr>
          <a:xfrm>
            <a:off x="152" y="0"/>
            <a:ext cx="12191695" cy="109728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8CF01B-5F94-1D5A-F8EA-C01E7D4A0904}"/>
              </a:ext>
            </a:extLst>
          </p:cNvPr>
          <p:cNvSpPr txBox="1"/>
          <p:nvPr/>
        </p:nvSpPr>
        <p:spPr>
          <a:xfrm>
            <a:off x="612800" y="841248"/>
            <a:ext cx="515339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dirty="0" err="1">
                <a:solidFill>
                  <a:srgbClr val="5C6674"/>
                </a:solidFill>
                <a:latin typeface="Aptos"/>
              </a:rPr>
              <a:t>Kết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hợp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nhiều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bộ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dữ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liệu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chuẩn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để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tăng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độ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đa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dạng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và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khả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năng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kiểm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chứng</a:t>
            </a:r>
            <a:endParaRPr sz="1200" dirty="0">
              <a:solidFill>
                <a:srgbClr val="5C6674"/>
              </a:solidFill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1821B8-6A2E-A9F5-6619-FF29380D0E9D}"/>
              </a:ext>
            </a:extLst>
          </p:cNvPr>
          <p:cNvSpPr txBox="1"/>
          <p:nvPr/>
        </p:nvSpPr>
        <p:spPr>
          <a:xfrm>
            <a:off x="11384432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>
                <a:solidFill>
                  <a:srgbClr val="5C6674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46920C6-8739-10B1-B026-69D82DC9CD34}"/>
              </a:ext>
            </a:extLst>
          </p:cNvPr>
          <p:cNvSpPr/>
          <p:nvPr/>
        </p:nvSpPr>
        <p:spPr>
          <a:xfrm>
            <a:off x="685952" y="141732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7E9479-3569-0502-2626-5AA2656F5E89}"/>
              </a:ext>
            </a:extLst>
          </p:cNvPr>
          <p:cNvSpPr/>
          <p:nvPr/>
        </p:nvSpPr>
        <p:spPr>
          <a:xfrm>
            <a:off x="685952" y="1417320"/>
            <a:ext cx="73152" cy="2011680"/>
          </a:xfrm>
          <a:prstGeom prst="rect">
            <a:avLst/>
          </a:prstGeom>
          <a:solidFill>
            <a:srgbClr val="2B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8AB404-FB70-0443-A627-9212D75E5378}"/>
              </a:ext>
            </a:extLst>
          </p:cNvPr>
          <p:cNvSpPr txBox="1"/>
          <p:nvPr/>
        </p:nvSpPr>
        <p:spPr>
          <a:xfrm>
            <a:off x="887120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700" b="1">
                <a:solidFill>
                  <a:srgbClr val="142749"/>
                </a:solidFill>
                <a:latin typeface="Aptos"/>
              </a:rPr>
              <a:t>CICIDS2017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E12D26-B507-4A5B-A242-FD5C5BA8596E}"/>
              </a:ext>
            </a:extLst>
          </p:cNvPr>
          <p:cNvSpPr txBox="1"/>
          <p:nvPr/>
        </p:nvSpPr>
        <p:spPr>
          <a:xfrm>
            <a:off x="887120" y="2011680"/>
            <a:ext cx="30632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Bộ</a:t>
            </a:r>
            <a:r>
              <a:rPr sz="1600" dirty="0"/>
              <a:t> </a:t>
            </a:r>
            <a:r>
              <a:rPr sz="1600" dirty="0" err="1"/>
              <a:t>dữ</a:t>
            </a:r>
            <a:r>
              <a:rPr sz="1600" dirty="0"/>
              <a:t> </a:t>
            </a:r>
            <a:r>
              <a:rPr sz="1600" dirty="0" err="1"/>
              <a:t>liệu</a:t>
            </a:r>
            <a:r>
              <a:rPr sz="1600" dirty="0"/>
              <a:t> IDS </a:t>
            </a:r>
            <a:r>
              <a:rPr sz="1600" dirty="0" err="1"/>
              <a:t>phổ</a:t>
            </a:r>
            <a:r>
              <a:rPr sz="1600" dirty="0"/>
              <a:t> </a:t>
            </a:r>
            <a:r>
              <a:rPr sz="1600" dirty="0" err="1"/>
              <a:t>biến</a:t>
            </a:r>
            <a:r>
              <a:rPr sz="1600" dirty="0"/>
              <a:t>, </a:t>
            </a:r>
            <a:r>
              <a:rPr sz="1600" dirty="0" err="1"/>
              <a:t>chứa</a:t>
            </a:r>
            <a:r>
              <a:rPr sz="1600" dirty="0"/>
              <a:t> </a:t>
            </a:r>
            <a:r>
              <a:rPr sz="1600" dirty="0" err="1"/>
              <a:t>lưu</a:t>
            </a:r>
            <a:r>
              <a:rPr sz="1600" dirty="0"/>
              <a:t> </a:t>
            </a:r>
            <a:r>
              <a:rPr sz="1600" dirty="0" err="1"/>
              <a:t>lượng</a:t>
            </a:r>
            <a:r>
              <a:rPr sz="1600" dirty="0"/>
              <a:t> </a:t>
            </a:r>
            <a:r>
              <a:rPr sz="1600" dirty="0" err="1"/>
              <a:t>bình</a:t>
            </a:r>
            <a:r>
              <a:rPr sz="1600" dirty="0"/>
              <a:t> </a:t>
            </a:r>
            <a:r>
              <a:rPr sz="1600" dirty="0" err="1"/>
              <a:t>thường</a:t>
            </a:r>
            <a:r>
              <a:rPr sz="1600" dirty="0"/>
              <a:t> </a:t>
            </a:r>
            <a:r>
              <a:rPr sz="1600" dirty="0" err="1"/>
              <a:t>và</a:t>
            </a:r>
            <a:r>
              <a:rPr sz="1600" dirty="0"/>
              <a:t> </a:t>
            </a:r>
            <a:r>
              <a:rPr sz="1600" dirty="0" err="1"/>
              <a:t>nhiều</a:t>
            </a:r>
            <a:r>
              <a:rPr sz="1600" dirty="0"/>
              <a:t> </a:t>
            </a:r>
            <a:r>
              <a:rPr sz="1600" dirty="0" err="1"/>
              <a:t>kịch</a:t>
            </a:r>
            <a:r>
              <a:rPr sz="1600" dirty="0"/>
              <a:t> </a:t>
            </a:r>
            <a:r>
              <a:rPr sz="1600" dirty="0" err="1"/>
              <a:t>bản</a:t>
            </a:r>
            <a:r>
              <a:rPr sz="1600" dirty="0"/>
              <a:t> </a:t>
            </a:r>
            <a:r>
              <a:rPr sz="1600" dirty="0" err="1"/>
              <a:t>tấn</a:t>
            </a:r>
            <a:r>
              <a:rPr sz="1600" dirty="0"/>
              <a:t> </a:t>
            </a:r>
            <a:r>
              <a:rPr sz="1600" dirty="0" err="1"/>
              <a:t>công</a:t>
            </a:r>
            <a:r>
              <a:rPr sz="1600" dirty="0"/>
              <a:t>; </a:t>
            </a:r>
            <a:r>
              <a:rPr sz="1600" dirty="0" err="1"/>
              <a:t>dùng</a:t>
            </a:r>
            <a:r>
              <a:rPr sz="1600" dirty="0"/>
              <a:t> </a:t>
            </a:r>
            <a:r>
              <a:rPr sz="1600" dirty="0" err="1"/>
              <a:t>cho</a:t>
            </a:r>
            <a:r>
              <a:rPr sz="1600" dirty="0"/>
              <a:t> </a:t>
            </a:r>
            <a:r>
              <a:rPr sz="1600" dirty="0" err="1"/>
              <a:t>các</a:t>
            </a:r>
            <a:r>
              <a:rPr sz="1600" dirty="0"/>
              <a:t> </a:t>
            </a:r>
            <a:r>
              <a:rPr sz="1600" dirty="0" err="1"/>
              <a:t>lớp</a:t>
            </a:r>
            <a:r>
              <a:rPr sz="1600" dirty="0"/>
              <a:t> </a:t>
            </a:r>
            <a:r>
              <a:rPr sz="1600" dirty="0" err="1"/>
              <a:t>mục</a:t>
            </a:r>
            <a:r>
              <a:rPr sz="1600" dirty="0"/>
              <a:t> </a:t>
            </a:r>
            <a:r>
              <a:rPr sz="1600" dirty="0" err="1"/>
              <a:t>tiêu</a:t>
            </a:r>
            <a:r>
              <a:rPr sz="1600" dirty="0"/>
              <a:t> </a:t>
            </a:r>
            <a:r>
              <a:rPr sz="1600" dirty="0" err="1"/>
              <a:t>phù</a:t>
            </a:r>
            <a:r>
              <a:rPr sz="1600" dirty="0"/>
              <a:t> </a:t>
            </a:r>
            <a:r>
              <a:rPr sz="1600" dirty="0" err="1"/>
              <a:t>hợp</a:t>
            </a:r>
            <a:r>
              <a:rPr sz="1600" dirty="0"/>
              <a:t>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FF7CB60-76B5-CA79-E79A-B251BE5A864A}"/>
              </a:ext>
            </a:extLst>
          </p:cNvPr>
          <p:cNvSpPr/>
          <p:nvPr/>
        </p:nvSpPr>
        <p:spPr>
          <a:xfrm>
            <a:off x="4389272" y="141732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558B28-90E2-B0FD-B5EF-1F5CF6AE410E}"/>
              </a:ext>
            </a:extLst>
          </p:cNvPr>
          <p:cNvSpPr/>
          <p:nvPr/>
        </p:nvSpPr>
        <p:spPr>
          <a:xfrm>
            <a:off x="4389272" y="1417320"/>
            <a:ext cx="73152" cy="2011680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08A686-3BF1-7043-5357-075392684884}"/>
              </a:ext>
            </a:extLst>
          </p:cNvPr>
          <p:cNvSpPr txBox="1"/>
          <p:nvPr/>
        </p:nvSpPr>
        <p:spPr>
          <a:xfrm>
            <a:off x="4590440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700" b="1">
                <a:solidFill>
                  <a:srgbClr val="142749"/>
                </a:solidFill>
                <a:latin typeface="Aptos"/>
              </a:rPr>
              <a:t>CSE-CIC-IDS2018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16F33E-29B7-E92F-2763-87B0527CEB58}"/>
              </a:ext>
            </a:extLst>
          </p:cNvPr>
          <p:cNvSpPr txBox="1"/>
          <p:nvPr/>
        </p:nvSpPr>
        <p:spPr>
          <a:xfrm>
            <a:off x="4590440" y="2011680"/>
            <a:ext cx="30632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Mở</a:t>
            </a:r>
            <a:r>
              <a:rPr sz="1600" dirty="0"/>
              <a:t> </a:t>
            </a:r>
            <a:r>
              <a:rPr sz="1600" dirty="0" err="1"/>
              <a:t>rộng</a:t>
            </a:r>
            <a:r>
              <a:rPr sz="1600" dirty="0"/>
              <a:t> </a:t>
            </a:r>
            <a:r>
              <a:rPr sz="1600" dirty="0" err="1"/>
              <a:t>quy</a:t>
            </a:r>
            <a:r>
              <a:rPr sz="1600" dirty="0"/>
              <a:t> </a:t>
            </a:r>
            <a:r>
              <a:rPr sz="1600" dirty="0" err="1"/>
              <a:t>mô</a:t>
            </a:r>
            <a:r>
              <a:rPr sz="1600" dirty="0"/>
              <a:t> </a:t>
            </a:r>
            <a:r>
              <a:rPr sz="1600" dirty="0" err="1"/>
              <a:t>và</a:t>
            </a:r>
            <a:r>
              <a:rPr sz="1600" dirty="0"/>
              <a:t> </a:t>
            </a:r>
            <a:r>
              <a:rPr sz="1600" dirty="0" err="1"/>
              <a:t>kịch</a:t>
            </a:r>
            <a:r>
              <a:rPr sz="1600" dirty="0"/>
              <a:t> </a:t>
            </a:r>
            <a:r>
              <a:rPr sz="1600" dirty="0" err="1"/>
              <a:t>bản</a:t>
            </a:r>
            <a:r>
              <a:rPr sz="1600" dirty="0"/>
              <a:t> so </a:t>
            </a:r>
            <a:r>
              <a:rPr sz="1600" dirty="0" err="1"/>
              <a:t>với</a:t>
            </a:r>
            <a:r>
              <a:rPr sz="1600" dirty="0"/>
              <a:t> 2017; </a:t>
            </a:r>
            <a:r>
              <a:rPr sz="1600" dirty="0" err="1"/>
              <a:t>dùng</a:t>
            </a:r>
            <a:r>
              <a:rPr sz="1600" dirty="0"/>
              <a:t> </a:t>
            </a:r>
            <a:r>
              <a:rPr sz="1600" dirty="0" err="1"/>
              <a:t>để</a:t>
            </a:r>
            <a:r>
              <a:rPr sz="1600" dirty="0"/>
              <a:t> </a:t>
            </a:r>
            <a:r>
              <a:rPr sz="1600" dirty="0" err="1"/>
              <a:t>tăng</a:t>
            </a:r>
            <a:r>
              <a:rPr sz="1600" dirty="0"/>
              <a:t> </a:t>
            </a:r>
            <a:r>
              <a:rPr sz="1600" dirty="0" err="1"/>
              <a:t>độ</a:t>
            </a:r>
            <a:r>
              <a:rPr sz="1600" dirty="0"/>
              <a:t> </a:t>
            </a:r>
            <a:r>
              <a:rPr sz="1600" dirty="0" err="1"/>
              <a:t>đa</a:t>
            </a:r>
            <a:r>
              <a:rPr sz="1600" dirty="0"/>
              <a:t> </a:t>
            </a:r>
            <a:r>
              <a:rPr sz="1600" dirty="0" err="1"/>
              <a:t>dạng</a:t>
            </a:r>
            <a:r>
              <a:rPr sz="1600" dirty="0"/>
              <a:t> </a:t>
            </a:r>
            <a:r>
              <a:rPr sz="1600" dirty="0" err="1"/>
              <a:t>của</a:t>
            </a:r>
            <a:r>
              <a:rPr sz="1600" dirty="0"/>
              <a:t> </a:t>
            </a:r>
            <a:r>
              <a:rPr sz="1600" dirty="0" err="1"/>
              <a:t>dữ</a:t>
            </a:r>
            <a:r>
              <a:rPr sz="1600" dirty="0"/>
              <a:t> </a:t>
            </a:r>
            <a:r>
              <a:rPr sz="1600" dirty="0" err="1"/>
              <a:t>liệu</a:t>
            </a:r>
            <a:r>
              <a:rPr sz="1600" dirty="0"/>
              <a:t> </a:t>
            </a:r>
            <a:r>
              <a:rPr sz="1600" dirty="0" err="1"/>
              <a:t>huấn</a:t>
            </a:r>
            <a:r>
              <a:rPr sz="1600" dirty="0"/>
              <a:t> </a:t>
            </a:r>
            <a:r>
              <a:rPr sz="1600" dirty="0" err="1"/>
              <a:t>luyện</a:t>
            </a:r>
            <a:r>
              <a:rPr sz="1600" dirty="0"/>
              <a:t>/</a:t>
            </a:r>
            <a:r>
              <a:rPr sz="1600" dirty="0" err="1"/>
              <a:t>kiểm</a:t>
            </a:r>
            <a:r>
              <a:rPr sz="1600" dirty="0"/>
              <a:t> </a:t>
            </a:r>
            <a:r>
              <a:rPr sz="1600" dirty="0" err="1"/>
              <a:t>chứng</a:t>
            </a:r>
            <a:r>
              <a:rPr sz="1600" dirty="0"/>
              <a:t>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B5E399A-2E65-5AE5-2C4D-9CBCB66768DC}"/>
              </a:ext>
            </a:extLst>
          </p:cNvPr>
          <p:cNvSpPr/>
          <p:nvPr/>
        </p:nvSpPr>
        <p:spPr>
          <a:xfrm>
            <a:off x="8092592" y="141732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F3ECC2-88D2-7DA5-C858-57E3F3E60560}"/>
              </a:ext>
            </a:extLst>
          </p:cNvPr>
          <p:cNvSpPr/>
          <p:nvPr/>
        </p:nvSpPr>
        <p:spPr>
          <a:xfrm>
            <a:off x="8092592" y="1417320"/>
            <a:ext cx="73152" cy="2011680"/>
          </a:xfrm>
          <a:prstGeom prst="rect">
            <a:avLst/>
          </a:prstGeom>
          <a:solidFill>
            <a:srgbClr val="AD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C4CA64-106A-7D6F-11F1-03571B6BB210}"/>
              </a:ext>
            </a:extLst>
          </p:cNvPr>
          <p:cNvSpPr txBox="1"/>
          <p:nvPr/>
        </p:nvSpPr>
        <p:spPr>
          <a:xfrm>
            <a:off x="8293760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700" b="1">
                <a:solidFill>
                  <a:srgbClr val="142749"/>
                </a:solidFill>
                <a:latin typeface="Aptos"/>
              </a:rPr>
              <a:t>CIC-DDoS2019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D34D58-9B02-17F0-D4FD-48BB80471D4C}"/>
              </a:ext>
            </a:extLst>
          </p:cNvPr>
          <p:cNvSpPr txBox="1"/>
          <p:nvPr/>
        </p:nvSpPr>
        <p:spPr>
          <a:xfrm>
            <a:off x="8293760" y="201168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Tập</a:t>
            </a:r>
            <a:r>
              <a:rPr sz="1600" dirty="0"/>
              <a:t> </a:t>
            </a:r>
            <a:r>
              <a:rPr sz="1600" dirty="0" err="1"/>
              <a:t>trung</a:t>
            </a:r>
            <a:r>
              <a:rPr sz="1600" dirty="0"/>
              <a:t> </a:t>
            </a:r>
            <a:r>
              <a:rPr sz="1600" dirty="0" err="1"/>
              <a:t>mạnh</a:t>
            </a:r>
            <a:r>
              <a:rPr sz="1600" dirty="0"/>
              <a:t> </a:t>
            </a:r>
            <a:r>
              <a:rPr sz="1600" dirty="0" err="1"/>
              <a:t>vào</a:t>
            </a:r>
            <a:r>
              <a:rPr sz="1600" dirty="0"/>
              <a:t> </a:t>
            </a:r>
            <a:r>
              <a:rPr sz="1600" dirty="0" err="1"/>
              <a:t>các</a:t>
            </a:r>
            <a:r>
              <a:rPr sz="1600" dirty="0"/>
              <a:t> </a:t>
            </a:r>
            <a:r>
              <a:rPr sz="1600" dirty="0" err="1"/>
              <a:t>biến</a:t>
            </a:r>
            <a:r>
              <a:rPr sz="1600" dirty="0"/>
              <a:t> </a:t>
            </a:r>
            <a:r>
              <a:rPr sz="1600" dirty="0" err="1"/>
              <a:t>thể</a:t>
            </a:r>
            <a:r>
              <a:rPr sz="1600" dirty="0"/>
              <a:t> DDoS; </a:t>
            </a:r>
            <a:r>
              <a:rPr sz="1600" dirty="0" err="1"/>
              <a:t>bổ</a:t>
            </a:r>
            <a:r>
              <a:rPr sz="1600" dirty="0"/>
              <a:t> sung </a:t>
            </a:r>
            <a:r>
              <a:rPr sz="1600" dirty="0" err="1"/>
              <a:t>mẫu</a:t>
            </a:r>
            <a:r>
              <a:rPr sz="1600" dirty="0"/>
              <a:t> </a:t>
            </a:r>
            <a:r>
              <a:rPr sz="1600" dirty="0" err="1"/>
              <a:t>cho</a:t>
            </a:r>
            <a:r>
              <a:rPr sz="1600" dirty="0"/>
              <a:t> </a:t>
            </a:r>
            <a:r>
              <a:rPr sz="1600" dirty="0" err="1"/>
              <a:t>nhóm</a:t>
            </a:r>
            <a:r>
              <a:rPr sz="1600" dirty="0"/>
              <a:t> DDOS.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A06B0A-331C-1FB7-2FC0-E23997265FC7}"/>
              </a:ext>
            </a:extLst>
          </p:cNvPr>
          <p:cNvSpPr txBox="1"/>
          <p:nvPr/>
        </p:nvSpPr>
        <p:spPr>
          <a:xfrm>
            <a:off x="868832" y="3977639"/>
            <a:ext cx="10241280" cy="10876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Chuẩn hóa nhãn về 4 lớp chung: BENIGN, DDOS, PORTSCAN, BRUTEFORCE.</a:t>
            </a:r>
          </a:p>
          <a:p>
            <a:r>
              <a:t>Yêu cầu đồng nhất schema/không gian đặc trưng trước khi hợp nhất.</a:t>
            </a:r>
          </a:p>
          <a:p>
            <a:r>
              <a:t>Dữ liệu Lab sẽ được dùng ở Kịch bản C để kiểm chứng mô hình sau giai đoạn BC1.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3558" y="158451"/>
            <a:ext cx="1016148" cy="6381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1" name="Google Shape;291;p8"/>
          <p:cNvCxnSpPr/>
          <p:nvPr/>
        </p:nvCxnSpPr>
        <p:spPr>
          <a:xfrm>
            <a:off x="0" y="839624"/>
            <a:ext cx="10800678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292" name="Google Shape;292;p8"/>
          <p:cNvSpPr txBox="1"/>
          <p:nvPr/>
        </p:nvSpPr>
        <p:spPr>
          <a:xfrm>
            <a:off x="270952" y="246688"/>
            <a:ext cx="912682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vi-VN" sz="2400" b="1" dirty="0">
                <a:solidFill>
                  <a:srgbClr val="0070C0"/>
                </a:solidFill>
              </a:rPr>
              <a:t>5. Quy trình tiền xử lý dữ liệu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11237934" y="6481425"/>
            <a:ext cx="83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dirty="0"/>
              <a:t>7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dirty="0"/>
          </a:p>
        </p:txBody>
      </p:sp>
      <p:sp>
        <p:nvSpPr>
          <p:cNvPr id="294" name="Google Shape;294;p8"/>
          <p:cNvSpPr txBox="1"/>
          <p:nvPr/>
        </p:nvSpPr>
        <p:spPr>
          <a:xfrm>
            <a:off x="615949" y="6478270"/>
            <a:ext cx="14193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dirty="0">
                <a:solidFill>
                  <a:schemeClr val="dk1"/>
                </a:solidFill>
              </a:rPr>
              <a:t>03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C0F91C-AFE1-252B-9B2D-7DB30F38B9C4}"/>
              </a:ext>
            </a:extLst>
          </p:cNvPr>
          <p:cNvSpPr/>
          <p:nvPr/>
        </p:nvSpPr>
        <p:spPr>
          <a:xfrm>
            <a:off x="152" y="0"/>
            <a:ext cx="12191695" cy="109728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4EC69-2542-B394-240B-740EC2E74BBC}"/>
              </a:ext>
            </a:extLst>
          </p:cNvPr>
          <p:cNvSpPr txBox="1"/>
          <p:nvPr/>
        </p:nvSpPr>
        <p:spPr>
          <a:xfrm>
            <a:off x="612800" y="841248"/>
            <a:ext cx="544206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dirty="0" err="1">
                <a:solidFill>
                  <a:srgbClr val="5C6674"/>
                </a:solidFill>
                <a:latin typeface="Aptos"/>
              </a:rPr>
              <a:t>Pipeline thực tế: làm sạch, đồng bộ đặc trưng, chống leakage và chia tập đánh giá</a:t>
            </a:r>
            <a:endParaRPr sz="1200" dirty="0">
              <a:solidFill>
                <a:srgbClr val="5C6674"/>
              </a:solidFill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FE087A-1BB0-DB31-CF7F-58C431824BB1}"/>
              </a:ext>
            </a:extLst>
          </p:cNvPr>
          <p:cNvSpPr txBox="1"/>
          <p:nvPr/>
        </p:nvSpPr>
        <p:spPr>
          <a:xfrm>
            <a:off x="11384432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 dirty="0">
                <a:solidFill>
                  <a:srgbClr val="5C6674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7EA9321-1295-A765-4553-6A20721DB409}"/>
              </a:ext>
            </a:extLst>
          </p:cNvPr>
          <p:cNvSpPr/>
          <p:nvPr/>
        </p:nvSpPr>
        <p:spPr>
          <a:xfrm>
            <a:off x="548792" y="1417320"/>
            <a:ext cx="2514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A099A9-A97E-D94D-836C-50E8DF7A5037}"/>
              </a:ext>
            </a:extLst>
          </p:cNvPr>
          <p:cNvSpPr/>
          <p:nvPr/>
        </p:nvSpPr>
        <p:spPr>
          <a:xfrm>
            <a:off x="548792" y="1417320"/>
            <a:ext cx="73152" cy="1463040"/>
          </a:xfrm>
          <a:prstGeom prst="rect">
            <a:avLst/>
          </a:prstGeom>
          <a:solidFill>
            <a:srgbClr val="2B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97B794-88A0-FC35-6C74-E20C5F083EEE}"/>
              </a:ext>
            </a:extLst>
          </p:cNvPr>
          <p:cNvSpPr txBox="1"/>
          <p:nvPr/>
        </p:nvSpPr>
        <p:spPr>
          <a:xfrm>
            <a:off x="749960" y="158191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1. Làm sạch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D9198-9364-1560-B5F1-D47A28A556CE}"/>
              </a:ext>
            </a:extLst>
          </p:cNvPr>
          <p:cNvSpPr txBox="1"/>
          <p:nvPr/>
        </p:nvSpPr>
        <p:spPr>
          <a:xfrm>
            <a:off x="749960" y="2011680"/>
            <a:ext cx="2148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5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NaN · Inf · bản ghi lỗi</a:t>
            </a:r>
            <a:endParaRPr sz="1600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56787EE-8470-EDC7-40CF-C1299BB589E4}"/>
              </a:ext>
            </a:extLst>
          </p:cNvPr>
          <p:cNvSpPr/>
          <p:nvPr/>
        </p:nvSpPr>
        <p:spPr>
          <a:xfrm>
            <a:off x="3401720" y="1417320"/>
            <a:ext cx="2514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2A7337-A6A5-7DD1-0BE2-5E449B917D32}"/>
              </a:ext>
            </a:extLst>
          </p:cNvPr>
          <p:cNvSpPr/>
          <p:nvPr/>
        </p:nvSpPr>
        <p:spPr>
          <a:xfrm>
            <a:off x="3401720" y="1417320"/>
            <a:ext cx="73152" cy="1463040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C22C46-2157-74F5-72A4-EFC3DF011A77}"/>
              </a:ext>
            </a:extLst>
          </p:cNvPr>
          <p:cNvSpPr txBox="1"/>
          <p:nvPr/>
        </p:nvSpPr>
        <p:spPr>
          <a:xfrm>
            <a:off x="3602888" y="158191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2. Chuẩn hóa nhãn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2CB8CB-4B49-86B1-D8D5-168221C6AF30}"/>
              </a:ext>
            </a:extLst>
          </p:cNvPr>
          <p:cNvSpPr txBox="1"/>
          <p:nvPr/>
        </p:nvSpPr>
        <p:spPr>
          <a:xfrm>
            <a:off x="3602888" y="2011680"/>
            <a:ext cx="2148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5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4 </a:t>
            </a:r>
            <a:r>
              <a:rPr sz="1600" dirty="0" err="1"/>
              <a:t>lớp</a:t>
            </a:r>
            <a:r>
              <a:rPr sz="1600" dirty="0"/>
              <a:t> </a:t>
            </a:r>
            <a:r>
              <a:rPr sz="1600" dirty="0" err="1"/>
              <a:t>thống</a:t>
            </a:r>
            <a:r>
              <a:rPr sz="1600" dirty="0"/>
              <a:t> </a:t>
            </a:r>
            <a:r>
              <a:rPr sz="1600" dirty="0" err="1"/>
              <a:t>nhất</a:t>
            </a:r>
            <a:endParaRPr sz="1600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3FE43F4-B793-B3B5-5D5F-FBA21B19582F}"/>
              </a:ext>
            </a:extLst>
          </p:cNvPr>
          <p:cNvSpPr/>
          <p:nvPr/>
        </p:nvSpPr>
        <p:spPr>
          <a:xfrm>
            <a:off x="6254648" y="1417320"/>
            <a:ext cx="2514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1262D7-7001-1EE2-A6B2-AED5D5A8EA77}"/>
              </a:ext>
            </a:extLst>
          </p:cNvPr>
          <p:cNvSpPr/>
          <p:nvPr/>
        </p:nvSpPr>
        <p:spPr>
          <a:xfrm>
            <a:off x="6254648" y="1417320"/>
            <a:ext cx="73152" cy="1463040"/>
          </a:xfrm>
          <a:prstGeom prst="rect">
            <a:avLst/>
          </a:prstGeom>
          <a:solidFill>
            <a:srgbClr val="AD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157657-6614-CF23-BFC7-8E42192CBC4A}"/>
              </a:ext>
            </a:extLst>
          </p:cNvPr>
          <p:cNvSpPr txBox="1"/>
          <p:nvPr/>
        </p:nvSpPr>
        <p:spPr>
          <a:xfrm>
            <a:off x="6455816" y="158191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3. Data Leakage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878A64-69D0-81F1-C18D-D5FFBF14FB5D}"/>
              </a:ext>
            </a:extLst>
          </p:cNvPr>
          <p:cNvSpPr txBox="1"/>
          <p:nvPr/>
        </p:nvSpPr>
        <p:spPr>
          <a:xfrm>
            <a:off x="6437528" y="2021169"/>
            <a:ext cx="2148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5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Loại</a:t>
            </a:r>
            <a:r>
              <a:rPr sz="1600" dirty="0"/>
              <a:t> IP · Flow ID · Timestamp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A650C53-7147-A4B2-0273-E230F145E3AA}"/>
              </a:ext>
            </a:extLst>
          </p:cNvPr>
          <p:cNvSpPr/>
          <p:nvPr/>
        </p:nvSpPr>
        <p:spPr>
          <a:xfrm>
            <a:off x="9107576" y="1417320"/>
            <a:ext cx="2514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8C6ABC-9F74-145B-E684-C1F8A7DA98C9}"/>
              </a:ext>
            </a:extLst>
          </p:cNvPr>
          <p:cNvSpPr/>
          <p:nvPr/>
        </p:nvSpPr>
        <p:spPr>
          <a:xfrm>
            <a:off x="9107576" y="1417320"/>
            <a:ext cx="73152" cy="1463040"/>
          </a:xfrm>
          <a:prstGeom prst="rect">
            <a:avLst/>
          </a:prstGeom>
          <a:solidFill>
            <a:srgbClr val="31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878207-1EC9-C38E-156F-23781B7697FF}"/>
              </a:ext>
            </a:extLst>
          </p:cNvPr>
          <p:cNvSpPr txBox="1"/>
          <p:nvPr/>
        </p:nvSpPr>
        <p:spPr>
          <a:xfrm>
            <a:off x="9308744" y="158191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4. Đồng bộ schema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A000C3-3FA4-DF69-EE96-02D58181F7B0}"/>
              </a:ext>
            </a:extLst>
          </p:cNvPr>
          <p:cNvSpPr txBox="1"/>
          <p:nvPr/>
        </p:nvSpPr>
        <p:spPr>
          <a:xfrm>
            <a:off x="9308744" y="2011680"/>
            <a:ext cx="2148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5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Chuẩn hóa tên và kiểu đặc trưng giữa 2017 · 2018 · 2019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5B61A12-A98B-5DAD-813D-1C32EEA2A283}"/>
              </a:ext>
            </a:extLst>
          </p:cNvPr>
          <p:cNvSpPr/>
          <p:nvPr/>
        </p:nvSpPr>
        <p:spPr>
          <a:xfrm>
            <a:off x="685952" y="347472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6A4A5B-2E59-B2AC-39DC-6E5BEE9E8648}"/>
              </a:ext>
            </a:extLst>
          </p:cNvPr>
          <p:cNvSpPr/>
          <p:nvPr/>
        </p:nvSpPr>
        <p:spPr>
          <a:xfrm>
            <a:off x="685952" y="3474720"/>
            <a:ext cx="73152" cy="1463040"/>
          </a:xfrm>
          <a:prstGeom prst="rect">
            <a:avLst/>
          </a:prstGeom>
          <a:solidFill>
            <a:srgbClr val="C17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764C00-3D6C-434B-0D50-B7F6147E8B68}"/>
              </a:ext>
            </a:extLst>
          </p:cNvPr>
          <p:cNvSpPr txBox="1"/>
          <p:nvPr/>
        </p:nvSpPr>
        <p:spPr>
          <a:xfrm>
            <a:off x="887120" y="36393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5. Feature set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759B37-5830-1F4F-8098-28C2D87D6CBF}"/>
              </a:ext>
            </a:extLst>
          </p:cNvPr>
          <p:cNvSpPr txBox="1"/>
          <p:nvPr/>
        </p:nvSpPr>
        <p:spPr>
          <a:xfrm>
            <a:off x="887120" y="4069080"/>
            <a:ext cx="3063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50">
                <a:solidFill>
                  <a:srgbClr val="242B36"/>
                </a:solidFill>
                <a:latin typeface="Aptos"/>
              </a:defRPr>
            </a:pPr>
            <a:r>
              <a:rPr sz="1600"/>
              <a:t>F_ALL 59 → F_NOOS 56 · loại 3 OS fingerprint</a:t>
            </a:r>
            <a:endParaRPr sz="1600" dirty="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3C15D79-9A14-E254-16B4-4CECFBB5D24A}"/>
              </a:ext>
            </a:extLst>
          </p:cNvPr>
          <p:cNvSpPr/>
          <p:nvPr/>
        </p:nvSpPr>
        <p:spPr>
          <a:xfrm>
            <a:off x="4389272" y="347472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8E7E25-E0EC-08AF-BB06-3C2E7CB439E9}"/>
              </a:ext>
            </a:extLst>
          </p:cNvPr>
          <p:cNvSpPr/>
          <p:nvPr/>
        </p:nvSpPr>
        <p:spPr>
          <a:xfrm>
            <a:off x="4389272" y="3474720"/>
            <a:ext cx="73152" cy="1463040"/>
          </a:xfrm>
          <a:prstGeom prst="rect">
            <a:avLst/>
          </a:prstGeom>
          <a:solidFill>
            <a:srgbClr val="14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1C861C-4AED-9438-90C3-62C79E083F22}"/>
              </a:ext>
            </a:extLst>
          </p:cNvPr>
          <p:cNvSpPr txBox="1"/>
          <p:nvPr/>
        </p:nvSpPr>
        <p:spPr>
          <a:xfrm>
            <a:off x="4590440" y="36393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6. Chống trùng mẫu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62CD11-9C1E-689B-F318-90E0BE165BB9}"/>
              </a:ext>
            </a:extLst>
          </p:cNvPr>
          <p:cNvSpPr txBox="1"/>
          <p:nvPr/>
        </p:nvSpPr>
        <p:spPr>
          <a:xfrm>
            <a:off x="4590440" y="4069080"/>
            <a:ext cx="3063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5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Gộp vector trùng trước khi chia fold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613C053-9886-B0C5-1EC1-B3E7974CC08D}"/>
              </a:ext>
            </a:extLst>
          </p:cNvPr>
          <p:cNvSpPr/>
          <p:nvPr/>
        </p:nvSpPr>
        <p:spPr>
          <a:xfrm>
            <a:off x="8092592" y="347472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88" name="Rectangle 31">
            <a:extLst>
              <a:ext uri="{FF2B5EF4-FFF2-40B4-BE49-F238E27FC236}">
                <a16:creationId xmlns:a16="http://schemas.microsoft.com/office/drawing/2014/main" id="{38A50DE8-3AFB-0287-477B-1818BD38071A}"/>
              </a:ext>
            </a:extLst>
          </p:cNvPr>
          <p:cNvSpPr/>
          <p:nvPr/>
        </p:nvSpPr>
        <p:spPr>
          <a:xfrm>
            <a:off x="8092592" y="3474720"/>
            <a:ext cx="73152" cy="1463040"/>
          </a:xfrm>
          <a:prstGeom prst="rect">
            <a:avLst/>
          </a:prstGeom>
          <a:solidFill>
            <a:srgbClr val="2B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89" name="TextBox 32">
            <a:extLst>
              <a:ext uri="{FF2B5EF4-FFF2-40B4-BE49-F238E27FC236}">
                <a16:creationId xmlns:a16="http://schemas.microsoft.com/office/drawing/2014/main" id="{F7F34A81-8690-71A0-C760-FFD1374568A5}"/>
              </a:ext>
            </a:extLst>
          </p:cNvPr>
          <p:cNvSpPr txBox="1"/>
          <p:nvPr/>
        </p:nvSpPr>
        <p:spPr>
          <a:xfrm>
            <a:off x="8293760" y="36393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7. Group-based Split</a:t>
            </a:r>
          </a:p>
        </p:txBody>
      </p:sp>
      <p:sp>
        <p:nvSpPr>
          <p:cNvPr id="296" name="TextBox 33">
            <a:extLst>
              <a:ext uri="{FF2B5EF4-FFF2-40B4-BE49-F238E27FC236}">
                <a16:creationId xmlns:a16="http://schemas.microsoft.com/office/drawing/2014/main" id="{ACD8EEFB-C126-39A2-4D0A-365D083895AE}"/>
              </a:ext>
            </a:extLst>
          </p:cNvPr>
          <p:cNvSpPr txBox="1"/>
          <p:nvPr/>
        </p:nvSpPr>
        <p:spPr>
          <a:xfrm>
            <a:off x="8293760" y="4069080"/>
            <a:ext cx="3063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5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Fold 0 = Test · Fold 1–4 = Train/CV</a:t>
            </a:r>
          </a:p>
        </p:txBody>
      </p:sp>
      <p:sp>
        <p:nvSpPr>
          <p:cNvPr id="297" name="TextBox 34">
            <a:extLst>
              <a:ext uri="{FF2B5EF4-FFF2-40B4-BE49-F238E27FC236}">
                <a16:creationId xmlns:a16="http://schemas.microsoft.com/office/drawing/2014/main" id="{DE2C9DAA-1F64-33B3-356A-FF66B34EA69E}"/>
              </a:ext>
            </a:extLst>
          </p:cNvPr>
          <p:cNvSpPr txBox="1"/>
          <p:nvPr/>
        </p:nvSpPr>
        <p:spPr>
          <a:xfrm>
            <a:off x="823112" y="5623560"/>
            <a:ext cx="10424160" cy="343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Nguyên tắc: không để cùng vector đặc trưng xuất hiện ở cả train và test; đánh giá thêm cross-dataset và dữ liệu Lab.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3558" y="158451"/>
            <a:ext cx="1016147" cy="6381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1" name="Google Shape;301;p9"/>
          <p:cNvCxnSpPr/>
          <p:nvPr/>
        </p:nvCxnSpPr>
        <p:spPr>
          <a:xfrm>
            <a:off x="0" y="839624"/>
            <a:ext cx="10800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302" name="Google Shape;302;p9"/>
          <p:cNvSpPr txBox="1"/>
          <p:nvPr/>
        </p:nvSpPr>
        <p:spPr>
          <a:xfrm>
            <a:off x="765315" y="211063"/>
            <a:ext cx="912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vi-VN" sz="24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6. Các mô hình đã thực nghiệm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514716" y="992788"/>
            <a:ext cx="10800600" cy="789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11237934" y="6481425"/>
            <a:ext cx="83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dirty="0"/>
              <a:t>8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dirty="0"/>
          </a:p>
        </p:txBody>
      </p:sp>
      <p:sp>
        <p:nvSpPr>
          <p:cNvPr id="306" name="Google Shape;306;p9"/>
          <p:cNvSpPr txBox="1"/>
          <p:nvPr/>
        </p:nvSpPr>
        <p:spPr>
          <a:xfrm>
            <a:off x="615949" y="6478270"/>
            <a:ext cx="14193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dirty="0">
                <a:solidFill>
                  <a:schemeClr val="dk1"/>
                </a:solidFill>
              </a:rPr>
              <a:t>03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0B5E6F-2AA0-22A8-7FCB-100707ADF4B0}"/>
              </a:ext>
            </a:extLst>
          </p:cNvPr>
          <p:cNvSpPr/>
          <p:nvPr/>
        </p:nvSpPr>
        <p:spPr>
          <a:xfrm>
            <a:off x="152" y="0"/>
            <a:ext cx="12191695" cy="109728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055387-45AB-3D12-6A53-59398B33729B}"/>
              </a:ext>
            </a:extLst>
          </p:cNvPr>
          <p:cNvSpPr txBox="1"/>
          <p:nvPr/>
        </p:nvSpPr>
        <p:spPr>
          <a:xfrm>
            <a:off x="612800" y="841248"/>
            <a:ext cx="320632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dirty="0">
                <a:solidFill>
                  <a:srgbClr val="5C6674"/>
                </a:solidFill>
                <a:latin typeface="Aptos"/>
              </a:rPr>
              <a:t>Bốn mô hình được huấn luyện trên cùng dữ liệu, 56 đặc trưng và cùng giao thức đánh giá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7CEC7D-435B-94B3-F52B-BF02CF84F57F}"/>
              </a:ext>
            </a:extLst>
          </p:cNvPr>
          <p:cNvSpPr txBox="1"/>
          <p:nvPr/>
        </p:nvSpPr>
        <p:spPr>
          <a:xfrm>
            <a:off x="11384432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>
                <a:solidFill>
                  <a:srgbClr val="5C6674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0F3B063-1A43-63CB-D2E0-C3B62473EB32}"/>
              </a:ext>
            </a:extLst>
          </p:cNvPr>
          <p:cNvSpPr/>
          <p:nvPr/>
        </p:nvSpPr>
        <p:spPr>
          <a:xfrm>
            <a:off x="685952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EBA11-4CE9-CEB3-CA52-372FED931306}"/>
              </a:ext>
            </a:extLst>
          </p:cNvPr>
          <p:cNvSpPr/>
          <p:nvPr/>
        </p:nvSpPr>
        <p:spPr>
          <a:xfrm>
            <a:off x="685952" y="1417320"/>
            <a:ext cx="73152" cy="1828800"/>
          </a:xfrm>
          <a:prstGeom prst="rect">
            <a:avLst/>
          </a:prstGeom>
          <a:solidFill>
            <a:srgbClr val="2B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4E2A27-41CA-0651-A926-AA38C1EB7576}"/>
              </a:ext>
            </a:extLst>
          </p:cNvPr>
          <p:cNvSpPr txBox="1"/>
          <p:nvPr/>
        </p:nvSpPr>
        <p:spPr>
          <a:xfrm>
            <a:off x="887120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700" b="1">
                <a:solidFill>
                  <a:srgbClr val="142749"/>
                </a:solidFill>
                <a:latin typeface="Aptos"/>
              </a:rPr>
              <a:t>Random Forest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D41B98-94A3-386E-5208-628BB287482F}"/>
              </a:ext>
            </a:extLst>
          </p:cNvPr>
          <p:cNvSpPr txBox="1"/>
          <p:nvPr/>
        </p:nvSpPr>
        <p:spPr>
          <a:xfrm>
            <a:off x="887120" y="201168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Mô hình cây đối chứng; hiệu quả cao và giữ khả năng xếp hạng tốt khi đổi môi trường.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7C3CC4D-B964-D7BB-EC4E-00C0BE53590D}"/>
              </a:ext>
            </a:extLst>
          </p:cNvPr>
          <p:cNvSpPr/>
          <p:nvPr/>
        </p:nvSpPr>
        <p:spPr>
          <a:xfrm>
            <a:off x="4389272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FB61A7-A392-5F52-B147-0EA90EE408B3}"/>
              </a:ext>
            </a:extLst>
          </p:cNvPr>
          <p:cNvSpPr/>
          <p:nvPr/>
        </p:nvSpPr>
        <p:spPr>
          <a:xfrm>
            <a:off x="4389272" y="1417320"/>
            <a:ext cx="73152" cy="1828800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2B83B0-118D-924D-F176-57131087E8AD}"/>
              </a:ext>
            </a:extLst>
          </p:cNvPr>
          <p:cNvSpPr txBox="1"/>
          <p:nvPr/>
        </p:nvSpPr>
        <p:spPr>
          <a:xfrm>
            <a:off x="4590440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700" b="1">
                <a:solidFill>
                  <a:srgbClr val="142749"/>
                </a:solidFill>
                <a:latin typeface="Aptos"/>
              </a:rPr>
              <a:t>XGBoost · LightGBM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DD6DB9-CBA6-6697-5564-7488A96B6B5C}"/>
              </a:ext>
            </a:extLst>
          </p:cNvPr>
          <p:cNvSpPr txBox="1"/>
          <p:nvPr/>
        </p:nvSpPr>
        <p:spPr>
          <a:xfrm>
            <a:off x="4590440" y="2011680"/>
            <a:ext cx="30632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Hai mô hình gradient boosting; LightGBM có lợi thế về dung lượng và tốc độ suy luận.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9D6EFA5-8E65-B910-055D-28B502361599}"/>
              </a:ext>
            </a:extLst>
          </p:cNvPr>
          <p:cNvSpPr/>
          <p:nvPr/>
        </p:nvSpPr>
        <p:spPr>
          <a:xfrm>
            <a:off x="8129168" y="1376058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5DAB21-32A7-258E-ED87-E0C8DC4415E1}"/>
              </a:ext>
            </a:extLst>
          </p:cNvPr>
          <p:cNvSpPr/>
          <p:nvPr/>
        </p:nvSpPr>
        <p:spPr>
          <a:xfrm>
            <a:off x="8092592" y="1417320"/>
            <a:ext cx="73152" cy="1828800"/>
          </a:xfrm>
          <a:prstGeom prst="rect">
            <a:avLst/>
          </a:prstGeom>
          <a:solidFill>
            <a:srgbClr val="31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8A5851-A873-59AF-69E0-7AE3572ADDFC}"/>
              </a:ext>
            </a:extLst>
          </p:cNvPr>
          <p:cNvSpPr txBox="1"/>
          <p:nvPr/>
        </p:nvSpPr>
        <p:spPr>
          <a:xfrm>
            <a:off x="8293760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700" b="1">
                <a:solidFill>
                  <a:srgbClr val="142749"/>
                </a:solidFill>
                <a:latin typeface="Aptos"/>
              </a:rPr>
              <a:t>MLP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5343DB-C897-618D-ED53-AE60338F4D74}"/>
              </a:ext>
            </a:extLst>
          </p:cNvPr>
          <p:cNvSpPr txBox="1"/>
          <p:nvPr/>
        </p:nvSpPr>
        <p:spPr>
          <a:xfrm>
            <a:off x="8321192" y="1897878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MLP </a:t>
            </a:r>
            <a:r>
              <a:rPr sz="1600" dirty="0" err="1"/>
              <a:t>đại</a:t>
            </a:r>
            <a:r>
              <a:rPr sz="1600" dirty="0"/>
              <a:t> </a:t>
            </a:r>
            <a:r>
              <a:rPr sz="1600" dirty="0" err="1"/>
              <a:t>diện</a:t>
            </a:r>
            <a:r>
              <a:rPr sz="1600" dirty="0"/>
              <a:t> </a:t>
            </a:r>
            <a:r>
              <a:rPr sz="1600" dirty="0" err="1"/>
              <a:t>hướng</a:t>
            </a:r>
            <a:r>
              <a:rPr sz="1600" dirty="0"/>
              <a:t> </a:t>
            </a:r>
            <a:r>
              <a:rPr sz="1600" dirty="0" err="1"/>
              <a:t>mạng</a:t>
            </a:r>
            <a:r>
              <a:rPr sz="1600" dirty="0"/>
              <a:t> </a:t>
            </a:r>
            <a:r>
              <a:rPr sz="1600" dirty="0" err="1"/>
              <a:t>nơ-ron</a:t>
            </a:r>
            <a:r>
              <a:rPr sz="1600" dirty="0"/>
              <a:t>. Isolation Forest </a:t>
            </a:r>
            <a:r>
              <a:rPr sz="1600" dirty="0" err="1"/>
              <a:t>sẽ</a:t>
            </a:r>
            <a:r>
              <a:rPr sz="1600" dirty="0"/>
              <a:t> </a:t>
            </a:r>
            <a:r>
              <a:rPr sz="1600" dirty="0" err="1"/>
              <a:t>thực</a:t>
            </a:r>
            <a:r>
              <a:rPr sz="1600" dirty="0"/>
              <a:t> </a:t>
            </a:r>
            <a:r>
              <a:rPr sz="1600" dirty="0" err="1"/>
              <a:t>hiện</a:t>
            </a:r>
            <a:r>
              <a:rPr sz="1600" dirty="0"/>
              <a:t> ở </a:t>
            </a:r>
            <a:r>
              <a:rPr sz="1600" dirty="0" err="1"/>
              <a:t>giai</a:t>
            </a:r>
            <a:r>
              <a:rPr sz="1600" dirty="0"/>
              <a:t> </a:t>
            </a:r>
            <a:r>
              <a:rPr sz="1600" dirty="0" err="1"/>
              <a:t>đoạn</a:t>
            </a:r>
            <a:r>
              <a:rPr sz="1600" dirty="0"/>
              <a:t> </a:t>
            </a:r>
            <a:r>
              <a:rPr sz="1600" dirty="0" err="1"/>
              <a:t>tiếp</a:t>
            </a:r>
            <a:r>
              <a:rPr sz="1600" dirty="0"/>
              <a:t> </a:t>
            </a:r>
            <a:r>
              <a:rPr sz="1600" dirty="0" err="1"/>
              <a:t>theo</a:t>
            </a:r>
            <a:r>
              <a:rPr sz="1600" dirty="0"/>
              <a:t> </a:t>
            </a:r>
            <a:r>
              <a:rPr sz="1600" dirty="0" err="1"/>
              <a:t>cho</a:t>
            </a:r>
            <a:r>
              <a:rPr sz="1600" dirty="0"/>
              <a:t> </a:t>
            </a:r>
            <a:r>
              <a:rPr sz="1600" dirty="0" err="1"/>
              <a:t>lớp</a:t>
            </a:r>
            <a:r>
              <a:rPr sz="1600" dirty="0"/>
              <a:t> </a:t>
            </a:r>
            <a:r>
              <a:rPr sz="1600" dirty="0" err="1"/>
              <a:t>bất</a:t>
            </a:r>
            <a:r>
              <a:rPr sz="1600" dirty="0"/>
              <a:t> </a:t>
            </a:r>
            <a:r>
              <a:rPr sz="1600" dirty="0" err="1"/>
              <a:t>thường</a:t>
            </a:r>
            <a:r>
              <a:rPr sz="1600" dirty="0"/>
              <a:t> </a:t>
            </a:r>
            <a:r>
              <a:rPr sz="1600" dirty="0" err="1"/>
              <a:t>chưa</a:t>
            </a:r>
            <a:r>
              <a:rPr sz="1600" dirty="0"/>
              <a:t> </a:t>
            </a:r>
            <a:r>
              <a:rPr sz="1600" dirty="0" err="1"/>
              <a:t>biết</a:t>
            </a:r>
            <a:r>
              <a:rPr sz="1600" dirty="0"/>
              <a:t>; Autoencoder </a:t>
            </a:r>
            <a:r>
              <a:rPr sz="1600" dirty="0" err="1"/>
              <a:t>là</a:t>
            </a:r>
            <a:r>
              <a:rPr sz="1600" dirty="0"/>
              <a:t> </a:t>
            </a:r>
            <a:r>
              <a:rPr sz="1600" dirty="0" err="1"/>
              <a:t>phương</a:t>
            </a:r>
            <a:r>
              <a:rPr sz="1600" dirty="0"/>
              <a:t> </a:t>
            </a:r>
            <a:r>
              <a:rPr sz="1600" dirty="0" err="1"/>
              <a:t>án</a:t>
            </a:r>
            <a:r>
              <a:rPr sz="1600" dirty="0"/>
              <a:t> </a:t>
            </a:r>
            <a:r>
              <a:rPr sz="1600" dirty="0" err="1"/>
              <a:t>mở</a:t>
            </a:r>
            <a:r>
              <a:rPr sz="1600" dirty="0"/>
              <a:t> </a:t>
            </a:r>
            <a:r>
              <a:rPr sz="1600" dirty="0" err="1"/>
              <a:t>rộng</a:t>
            </a:r>
            <a:r>
              <a:rPr sz="1600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C55A4C-41BB-F36D-F0D2-9E35B9499685}"/>
              </a:ext>
            </a:extLst>
          </p:cNvPr>
          <p:cNvSpPr txBox="1"/>
          <p:nvPr/>
        </p:nvSpPr>
        <p:spPr>
          <a:xfrm>
            <a:off x="868832" y="388620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42B36"/>
                </a:solidFill>
                <a:latin typeface="Aptos"/>
              </a:defRPr>
            </a:pPr>
            <a:r>
              <a:rPr dirty="0" err="1"/>
              <a:t>Chỉ số: macro-F1 · Precision/Recall/F1 theo lớp · FPR · số bỏ sót · AUC · dung lượng mô hình · thời gian dự đoán.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42B36"/>
                </a:solidFill>
                <a:latin typeface="Aptos"/>
              </a:defRPr>
            </a:pPr>
            <a:endParaRPr dirty="0" err="1"/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242B36"/>
                </a:solidFill>
                <a:latin typeface="Aptos"/>
              </a:defRPr>
            </a:pPr>
            <a:endParaRPr dirty="0" err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3558" y="158451"/>
            <a:ext cx="1016147" cy="6381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8" name="Google Shape;508;p11"/>
          <p:cNvCxnSpPr/>
          <p:nvPr/>
        </p:nvCxnSpPr>
        <p:spPr>
          <a:xfrm>
            <a:off x="0" y="839624"/>
            <a:ext cx="10800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509" name="Google Shape;509;p11"/>
          <p:cNvSpPr txBox="1"/>
          <p:nvPr/>
        </p:nvSpPr>
        <p:spPr>
          <a:xfrm>
            <a:off x="350875" y="175733"/>
            <a:ext cx="9126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vi-VN" sz="2400" b="1" i="0" u="none" strike="noStrike" cap="none" dirty="0">
                <a:solidFill>
                  <a:srgbClr val="5F74BE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lang="en-US" sz="2400" b="1" i="0" u="none" strike="noStrike" cap="none" dirty="0">
                <a:solidFill>
                  <a:srgbClr val="5F74B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vi-VN" sz="2400" b="1" i="0" u="none" strike="noStrike" cap="none" dirty="0">
                <a:solidFill>
                  <a:srgbClr val="5F74BE"/>
                </a:solidFill>
                <a:latin typeface="Arial"/>
                <a:ea typeface="Arial"/>
                <a:cs typeface="Arial"/>
                <a:sym typeface="Arial"/>
              </a:rPr>
              <a:t> Kiến trúc hệ thống dự kiến</a:t>
            </a:r>
            <a:endParaRPr sz="2400" b="0" i="0" u="none" strike="noStrike" cap="none" dirty="0">
              <a:solidFill>
                <a:srgbClr val="5F74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1"/>
          <p:cNvSpPr txBox="1"/>
          <p:nvPr/>
        </p:nvSpPr>
        <p:spPr>
          <a:xfrm>
            <a:off x="8216750" y="3554925"/>
            <a:ext cx="101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1"/>
          <p:cNvSpPr txBox="1"/>
          <p:nvPr/>
        </p:nvSpPr>
        <p:spPr>
          <a:xfrm>
            <a:off x="11237934" y="6481425"/>
            <a:ext cx="83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dirty="0"/>
              <a:t>9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dirty="0"/>
          </a:p>
        </p:txBody>
      </p:sp>
      <p:sp>
        <p:nvSpPr>
          <p:cNvPr id="513" name="Google Shape;513;p11"/>
          <p:cNvSpPr txBox="1"/>
          <p:nvPr/>
        </p:nvSpPr>
        <p:spPr>
          <a:xfrm>
            <a:off x="615949" y="6478270"/>
            <a:ext cx="15373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dirty="0">
                <a:solidFill>
                  <a:schemeClr val="dk1"/>
                </a:solidFill>
              </a:rPr>
              <a:t>03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476952-EA4D-3B19-8B82-8E67B52DEAE1}"/>
              </a:ext>
            </a:extLst>
          </p:cNvPr>
          <p:cNvSpPr/>
          <p:nvPr/>
        </p:nvSpPr>
        <p:spPr>
          <a:xfrm>
            <a:off x="152" y="0"/>
            <a:ext cx="12191695" cy="109728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3D917A-9641-FF3C-2A0F-20E7A1DF362B}"/>
              </a:ext>
            </a:extLst>
          </p:cNvPr>
          <p:cNvSpPr txBox="1"/>
          <p:nvPr/>
        </p:nvSpPr>
        <p:spPr>
          <a:xfrm>
            <a:off x="612800" y="841248"/>
            <a:ext cx="439735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>
                <a:latin typeface="Aptos"/>
              </a:rPr>
              <a:t>Kiến trúc mục tiêu từ thu thập lưu lượng đến cảnh báo cho người vận hành</a:t>
            </a:r>
            <a:endParaRPr sz="1200" dirty="0">
              <a:solidFill>
                <a:srgbClr val="5C6674"/>
              </a:solidFill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26D3EB-95CB-DD50-D807-E5B6DBC19A7B}"/>
              </a:ext>
            </a:extLst>
          </p:cNvPr>
          <p:cNvSpPr txBox="1"/>
          <p:nvPr/>
        </p:nvSpPr>
        <p:spPr>
          <a:xfrm>
            <a:off x="11384432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>
                <a:solidFill>
                  <a:srgbClr val="5C6674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FB960C3-62B7-9AC8-FA7D-87BD6859745E}"/>
              </a:ext>
            </a:extLst>
          </p:cNvPr>
          <p:cNvSpPr/>
          <p:nvPr/>
        </p:nvSpPr>
        <p:spPr>
          <a:xfrm>
            <a:off x="457352" y="1874519"/>
            <a:ext cx="1572768" cy="1417320"/>
          </a:xfrm>
          <a:prstGeom prst="roundRect">
            <a:avLst/>
          </a:prstGeom>
          <a:solidFill>
            <a:srgbClr val="14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Traffic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Aptos"/>
              </a:rPr>
              <a:t>LAN / DMZ / Gateway</a:t>
            </a:r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1E908857-3768-AF94-414A-4E66D3D57389}"/>
              </a:ext>
            </a:extLst>
          </p:cNvPr>
          <p:cNvCxnSpPr/>
          <p:nvPr/>
        </p:nvCxnSpPr>
        <p:spPr>
          <a:xfrm>
            <a:off x="2048408" y="2578608"/>
            <a:ext cx="283464" cy="0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6C591D8-3717-4A1B-5B0C-29E4F4C0FF0A}"/>
              </a:ext>
            </a:extLst>
          </p:cNvPr>
          <p:cNvSpPr/>
          <p:nvPr/>
        </p:nvSpPr>
        <p:spPr>
          <a:xfrm>
            <a:off x="2395880" y="1874519"/>
            <a:ext cx="1572768" cy="1417320"/>
          </a:xfrm>
          <a:prstGeom prst="roundRect">
            <a:avLst/>
          </a:prstGeom>
          <a:solidFill>
            <a:srgbClr val="2B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Capture</a:t>
            </a:r>
          </a:p>
          <a:p>
            <a:pPr algn="ctr"/>
            <a:r>
              <a:rPr sz="950" dirty="0">
                <a:solidFill>
                  <a:srgbClr val="FFFFFF"/>
                </a:solidFill>
                <a:latin typeface="Aptos"/>
              </a:rPr>
              <a:t>SPAN / </a:t>
            </a:r>
            <a:r>
              <a:rPr sz="950" dirty="0" err="1">
                <a:solidFill>
                  <a:srgbClr val="FFFFFF"/>
                </a:solidFill>
                <a:latin typeface="Aptos"/>
              </a:rPr>
              <a:t>tcpdump</a:t>
            </a:r>
            <a:r>
              <a:rPr sz="950" dirty="0">
                <a:solidFill>
                  <a:srgbClr val="FFFFFF"/>
                </a:solidFill>
                <a:latin typeface="Aptos"/>
              </a:rPr>
              <a:t> / Zeek</a:t>
            </a:r>
          </a:p>
        </p:txBody>
      </p: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CF3FE998-F270-1CCA-A040-8098B457853A}"/>
              </a:ext>
            </a:extLst>
          </p:cNvPr>
          <p:cNvCxnSpPr/>
          <p:nvPr/>
        </p:nvCxnSpPr>
        <p:spPr>
          <a:xfrm>
            <a:off x="3986936" y="2578608"/>
            <a:ext cx="283464" cy="0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08FD9FD-7895-DC9A-0552-2E03251F9B79}"/>
              </a:ext>
            </a:extLst>
          </p:cNvPr>
          <p:cNvSpPr/>
          <p:nvPr/>
        </p:nvSpPr>
        <p:spPr>
          <a:xfrm>
            <a:off x="4334408" y="1874519"/>
            <a:ext cx="1572768" cy="1417320"/>
          </a:xfrm>
          <a:prstGeom prst="round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Features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Aptos"/>
              </a:rPr>
              <a:t>CICFlowMeter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9C7CBC94-3007-E571-6736-EAF96B20C7E8}"/>
              </a:ext>
            </a:extLst>
          </p:cNvPr>
          <p:cNvCxnSpPr/>
          <p:nvPr/>
        </p:nvCxnSpPr>
        <p:spPr>
          <a:xfrm>
            <a:off x="5925464" y="2578608"/>
            <a:ext cx="283464" cy="0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FDFA1EE-DD3D-8832-93AE-559C006FEAC8}"/>
              </a:ext>
            </a:extLst>
          </p:cNvPr>
          <p:cNvSpPr/>
          <p:nvPr/>
        </p:nvSpPr>
        <p:spPr>
          <a:xfrm>
            <a:off x="6272936" y="1874519"/>
            <a:ext cx="1572768" cy="1417320"/>
          </a:xfrm>
          <a:prstGeom prst="roundRect">
            <a:avLst/>
          </a:prstGeom>
          <a:solidFill>
            <a:srgbClr val="31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Inference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Aptos"/>
              </a:rPr>
              <a:t>FastAPI + ML model</a:t>
            </a: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A08FBF87-B88A-68B1-2F9C-FDCE3277AEE0}"/>
              </a:ext>
            </a:extLst>
          </p:cNvPr>
          <p:cNvCxnSpPr/>
          <p:nvPr/>
        </p:nvCxnSpPr>
        <p:spPr>
          <a:xfrm>
            <a:off x="7863992" y="2578608"/>
            <a:ext cx="283464" cy="0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DE9180F-4CFB-96B7-DA0A-2B2579AD3D6A}"/>
              </a:ext>
            </a:extLst>
          </p:cNvPr>
          <p:cNvSpPr/>
          <p:nvPr/>
        </p:nvSpPr>
        <p:spPr>
          <a:xfrm>
            <a:off x="8211464" y="1874519"/>
            <a:ext cx="1572768" cy="1417320"/>
          </a:xfrm>
          <a:prstGeom prst="roundRect">
            <a:avLst/>
          </a:prstGeom>
          <a:solidFill>
            <a:srgbClr val="C17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Events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Aptos"/>
              </a:rPr>
              <a:t>Correlation + PostgreSQL</a:t>
            </a:r>
          </a:p>
        </p:txBody>
      </p: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65875672-17E9-812A-D14C-EEC39A6C2F26}"/>
              </a:ext>
            </a:extLst>
          </p:cNvPr>
          <p:cNvCxnSpPr/>
          <p:nvPr/>
        </p:nvCxnSpPr>
        <p:spPr>
          <a:xfrm>
            <a:off x="9802520" y="2578608"/>
            <a:ext cx="283464" cy="0"/>
          </a:xfrm>
          <a:prstGeom prst="line">
            <a:avLst/>
          </a:prstGeom>
          <a:ln w="254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AF341CA-5A6A-0B6D-00C7-832155C6A644}"/>
              </a:ext>
            </a:extLst>
          </p:cNvPr>
          <p:cNvSpPr/>
          <p:nvPr/>
        </p:nvSpPr>
        <p:spPr>
          <a:xfrm>
            <a:off x="10149992" y="1874519"/>
            <a:ext cx="1572768" cy="1417320"/>
          </a:xfrm>
          <a:prstGeom prst="roundRect">
            <a:avLst/>
          </a:prstGeom>
          <a:solidFill>
            <a:srgbClr val="AD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SOC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Aptos"/>
              </a:rPr>
              <a:t>React Dashboard + Telegram/Email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6AA4EF-1934-9626-CF7E-DDF278A95228}"/>
              </a:ext>
            </a:extLst>
          </p:cNvPr>
          <p:cNvSpPr txBox="1"/>
          <p:nvPr/>
        </p:nvSpPr>
        <p:spPr>
          <a:xfrm>
            <a:off x="823112" y="4160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242B36"/>
                </a:solidFill>
                <a:latin typeface="Aptos"/>
              </a:defRPr>
            </a:pPr>
            <a:r>
              <a:rPr dirty="0"/>
              <a:t>Event Correlation </a:t>
            </a:r>
            <a:r>
              <a:rPr dirty="0" err="1"/>
              <a:t>gom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luồng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loại</a:t>
            </a:r>
            <a:r>
              <a:rPr dirty="0"/>
              <a:t> </a:t>
            </a:r>
            <a:r>
              <a:rPr dirty="0" err="1"/>
              <a:t>tấn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/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đích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cửa</a:t>
            </a:r>
            <a:r>
              <a:rPr dirty="0"/>
              <a:t> </a:t>
            </a:r>
            <a:r>
              <a:rPr dirty="0" err="1"/>
              <a:t>sổ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tránh</a:t>
            </a:r>
            <a:r>
              <a:rPr dirty="0"/>
              <a:t> </a:t>
            </a:r>
            <a:r>
              <a:rPr dirty="0" err="1"/>
              <a:t>ngập</a:t>
            </a:r>
            <a:r>
              <a:rPr dirty="0"/>
              <a:t> </a:t>
            </a:r>
            <a:r>
              <a:rPr dirty="0" err="1"/>
              <a:t>cảnh</a:t>
            </a:r>
            <a:r>
              <a:rPr dirty="0"/>
              <a:t> </a:t>
            </a:r>
            <a:r>
              <a:rPr dirty="0" err="1"/>
              <a:t>báo</a:t>
            </a:r>
            <a:r>
              <a:rPr dirty="0"/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242B36"/>
                </a:solidFill>
                <a:latin typeface="Aptos"/>
              </a:defRPr>
            </a:pPr>
            <a:r>
              <a:rPr dirty="0" err="1"/>
              <a:t>Cảnh</a:t>
            </a:r>
            <a:r>
              <a:rPr dirty="0"/>
              <a:t> </a:t>
            </a: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lưu</a:t>
            </a:r>
            <a:r>
              <a:rPr dirty="0"/>
              <a:t> PostgreSQL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3558" y="158451"/>
            <a:ext cx="1016147" cy="6381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9" name="Google Shape;519;p12"/>
          <p:cNvCxnSpPr/>
          <p:nvPr/>
        </p:nvCxnSpPr>
        <p:spPr>
          <a:xfrm>
            <a:off x="0" y="839624"/>
            <a:ext cx="10800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521" name="Google Shape;521;p12"/>
          <p:cNvSpPr txBox="1"/>
          <p:nvPr/>
        </p:nvSpPr>
        <p:spPr>
          <a:xfrm>
            <a:off x="8216750" y="3554925"/>
            <a:ext cx="101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2"/>
          <p:cNvSpPr txBox="1"/>
          <p:nvPr/>
        </p:nvSpPr>
        <p:spPr>
          <a:xfrm>
            <a:off x="11237934" y="6481425"/>
            <a:ext cx="83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dirty="0"/>
          </a:p>
        </p:txBody>
      </p:sp>
      <p:sp>
        <p:nvSpPr>
          <p:cNvPr id="523" name="Google Shape;523;p12"/>
          <p:cNvSpPr txBox="1"/>
          <p:nvPr/>
        </p:nvSpPr>
        <p:spPr>
          <a:xfrm>
            <a:off x="350875" y="217310"/>
            <a:ext cx="9126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vi-VN" sz="2400" b="1" dirty="0">
                <a:solidFill>
                  <a:srgbClr val="5F74BE"/>
                </a:solidFill>
              </a:rPr>
              <a:t>8</a:t>
            </a:r>
            <a:r>
              <a:rPr lang="en-US" sz="2400" b="1" i="0" u="none" strike="noStrike" cap="none" dirty="0">
                <a:solidFill>
                  <a:srgbClr val="5F74B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vi-VN" sz="2400" b="1" i="0" u="none" strike="noStrike" cap="none" dirty="0">
                <a:solidFill>
                  <a:srgbClr val="5F74BE"/>
                </a:solidFill>
                <a:latin typeface="Arial"/>
                <a:ea typeface="Arial"/>
                <a:cs typeface="Arial"/>
                <a:sym typeface="Arial"/>
              </a:rPr>
              <a:t> Môi trường </a:t>
            </a:r>
            <a:r>
              <a:rPr lang="vi-VN" sz="2400" b="1" i="0" u="none" strike="noStrike" cap="none" dirty="0" err="1">
                <a:solidFill>
                  <a:srgbClr val="5F74BE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r>
              <a:rPr lang="vi-VN" sz="2400" b="1" i="0" u="none" strike="noStrike" cap="none" dirty="0">
                <a:solidFill>
                  <a:srgbClr val="5F74BE"/>
                </a:solidFill>
                <a:latin typeface="Arial"/>
                <a:ea typeface="Arial"/>
                <a:cs typeface="Arial"/>
                <a:sym typeface="Arial"/>
              </a:rPr>
              <a:t> và kịch bản kiểm thử</a:t>
            </a:r>
            <a:r>
              <a:rPr lang="en-US" sz="2400" b="1" i="0" u="none" strike="noStrike" cap="none" dirty="0">
                <a:solidFill>
                  <a:srgbClr val="5F74B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0" i="0" u="none" strike="noStrike" cap="none" dirty="0">
              <a:solidFill>
                <a:srgbClr val="5F74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2"/>
          <p:cNvSpPr txBox="1"/>
          <p:nvPr/>
        </p:nvSpPr>
        <p:spPr>
          <a:xfrm>
            <a:off x="615949" y="6497934"/>
            <a:ext cx="14586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dirty="0">
                <a:solidFill>
                  <a:schemeClr val="dk1"/>
                </a:solidFill>
              </a:rPr>
              <a:t>03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C0C821-2545-7E19-7C58-81D7779ACFBB}"/>
              </a:ext>
            </a:extLst>
          </p:cNvPr>
          <p:cNvSpPr/>
          <p:nvPr/>
        </p:nvSpPr>
        <p:spPr>
          <a:xfrm>
            <a:off x="152" y="0"/>
            <a:ext cx="12191695" cy="109728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554AB7-5601-F57D-7E27-D91E3F76EB9A}"/>
              </a:ext>
            </a:extLst>
          </p:cNvPr>
          <p:cNvSpPr txBox="1"/>
          <p:nvPr/>
        </p:nvSpPr>
        <p:spPr>
          <a:xfrm>
            <a:off x="612800" y="841248"/>
            <a:ext cx="46810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dirty="0" err="1">
                <a:solidFill>
                  <a:srgbClr val="5C6674"/>
                </a:solidFill>
                <a:latin typeface="Aptos"/>
              </a:rPr>
              <a:t>Mô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phỏng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mạng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doanh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nghiệp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để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tạo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dữ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liệu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và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kiểm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chứng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mô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hình</a:t>
            </a:r>
            <a:endParaRPr sz="1200" dirty="0">
              <a:solidFill>
                <a:srgbClr val="5C6674"/>
              </a:solidFill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2BFEA8-D9FF-F903-56B2-219588589735}"/>
              </a:ext>
            </a:extLst>
          </p:cNvPr>
          <p:cNvSpPr txBox="1"/>
          <p:nvPr/>
        </p:nvSpPr>
        <p:spPr>
          <a:xfrm>
            <a:off x="11384432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>
                <a:solidFill>
                  <a:srgbClr val="5C6674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73B6581-9DA8-BCF8-BAA9-FF051ECA7954}"/>
              </a:ext>
            </a:extLst>
          </p:cNvPr>
          <p:cNvSpPr/>
          <p:nvPr/>
        </p:nvSpPr>
        <p:spPr>
          <a:xfrm>
            <a:off x="731672" y="1920240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769355-375C-AC97-975B-A3234BF3A76A}"/>
              </a:ext>
            </a:extLst>
          </p:cNvPr>
          <p:cNvSpPr/>
          <p:nvPr/>
        </p:nvSpPr>
        <p:spPr>
          <a:xfrm>
            <a:off x="731672" y="1920240"/>
            <a:ext cx="73152" cy="1051560"/>
          </a:xfrm>
          <a:prstGeom prst="rect">
            <a:avLst/>
          </a:prstGeom>
          <a:solidFill>
            <a:srgbClr val="AD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520F5E-CF1E-FA22-8843-09984CE99F0C}"/>
              </a:ext>
            </a:extLst>
          </p:cNvPr>
          <p:cNvSpPr txBox="1"/>
          <p:nvPr/>
        </p:nvSpPr>
        <p:spPr>
          <a:xfrm>
            <a:off x="932840" y="208483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Attacker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080EA4-B97B-A189-0177-1A5C94D65DF5}"/>
              </a:ext>
            </a:extLst>
          </p:cNvPr>
          <p:cNvSpPr txBox="1"/>
          <p:nvPr/>
        </p:nvSpPr>
        <p:spPr>
          <a:xfrm>
            <a:off x="932840" y="2514600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5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Kali / traffic generator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3715AA6-06B0-2845-7FBE-2406B26285DC}"/>
              </a:ext>
            </a:extLst>
          </p:cNvPr>
          <p:cNvSpPr/>
          <p:nvPr/>
        </p:nvSpPr>
        <p:spPr>
          <a:xfrm>
            <a:off x="3840632" y="1920240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2EA621-F1A1-A5FA-927B-997976B68DEE}"/>
              </a:ext>
            </a:extLst>
          </p:cNvPr>
          <p:cNvSpPr/>
          <p:nvPr/>
        </p:nvSpPr>
        <p:spPr>
          <a:xfrm>
            <a:off x="3840632" y="1920240"/>
            <a:ext cx="73152" cy="1051560"/>
          </a:xfrm>
          <a:prstGeom prst="rect">
            <a:avLst/>
          </a:prstGeom>
          <a:solidFill>
            <a:srgbClr val="14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250C72-2216-94BB-3F35-E3F39D8AA29B}"/>
              </a:ext>
            </a:extLst>
          </p:cNvPr>
          <p:cNvSpPr txBox="1"/>
          <p:nvPr/>
        </p:nvSpPr>
        <p:spPr>
          <a:xfrm>
            <a:off x="4041800" y="208483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Firewall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5D832E-8E36-24A3-C3CB-5E8C8DEDFE34}"/>
              </a:ext>
            </a:extLst>
          </p:cNvPr>
          <p:cNvSpPr txBox="1"/>
          <p:nvPr/>
        </p:nvSpPr>
        <p:spPr>
          <a:xfrm>
            <a:off x="4041800" y="2514600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5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Gateway / </a:t>
            </a:r>
            <a:r>
              <a:rPr sz="1600" dirty="0" err="1"/>
              <a:t>phân</a:t>
            </a:r>
            <a:r>
              <a:rPr sz="1600" dirty="0"/>
              <a:t> </a:t>
            </a:r>
            <a:r>
              <a:rPr sz="1600" dirty="0" err="1"/>
              <a:t>vùng</a:t>
            </a:r>
            <a:endParaRPr sz="1600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AC7CEA4-6E8E-BF2A-EE65-26D571B15624}"/>
              </a:ext>
            </a:extLst>
          </p:cNvPr>
          <p:cNvSpPr/>
          <p:nvPr/>
        </p:nvSpPr>
        <p:spPr>
          <a:xfrm>
            <a:off x="7406792" y="1325880"/>
            <a:ext cx="3108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D89458-29C6-E2F2-19FB-1C629210D4E7}"/>
              </a:ext>
            </a:extLst>
          </p:cNvPr>
          <p:cNvSpPr/>
          <p:nvPr/>
        </p:nvSpPr>
        <p:spPr>
          <a:xfrm>
            <a:off x="7406792" y="1325880"/>
            <a:ext cx="73152" cy="1051560"/>
          </a:xfrm>
          <a:prstGeom prst="rect">
            <a:avLst/>
          </a:prstGeom>
          <a:solidFill>
            <a:srgbClr val="2B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831F18-B5D5-6E93-C217-2311EF3AED4D}"/>
              </a:ext>
            </a:extLst>
          </p:cNvPr>
          <p:cNvSpPr txBox="1"/>
          <p:nvPr/>
        </p:nvSpPr>
        <p:spPr>
          <a:xfrm>
            <a:off x="7607960" y="149047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LAN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719062-5ED4-E62F-0DE3-2C444EC15B8D}"/>
              </a:ext>
            </a:extLst>
          </p:cNvPr>
          <p:cNvSpPr txBox="1"/>
          <p:nvPr/>
        </p:nvSpPr>
        <p:spPr>
          <a:xfrm>
            <a:off x="7607960" y="192024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5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User network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5793014-7600-B524-90DC-DBCA38DB9059}"/>
              </a:ext>
            </a:extLst>
          </p:cNvPr>
          <p:cNvSpPr/>
          <p:nvPr/>
        </p:nvSpPr>
        <p:spPr>
          <a:xfrm>
            <a:off x="7406792" y="2743200"/>
            <a:ext cx="3108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F2B4F6-7322-1310-D66B-38D85C382E80}"/>
              </a:ext>
            </a:extLst>
          </p:cNvPr>
          <p:cNvSpPr/>
          <p:nvPr/>
        </p:nvSpPr>
        <p:spPr>
          <a:xfrm>
            <a:off x="7406792" y="2743200"/>
            <a:ext cx="73152" cy="1051560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E908CA-0CFF-BC99-CF8B-C14886DA953D}"/>
              </a:ext>
            </a:extLst>
          </p:cNvPr>
          <p:cNvSpPr txBox="1"/>
          <p:nvPr/>
        </p:nvSpPr>
        <p:spPr>
          <a:xfrm>
            <a:off x="7607960" y="29077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DMZ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181086-342B-5BBA-D77E-241B8FC55AB4}"/>
              </a:ext>
            </a:extLst>
          </p:cNvPr>
          <p:cNvSpPr txBox="1"/>
          <p:nvPr/>
        </p:nvSpPr>
        <p:spPr>
          <a:xfrm>
            <a:off x="7571384" y="3296412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5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Server services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2057387-CEDC-6D4D-3283-AEE30E3F1E1E}"/>
              </a:ext>
            </a:extLst>
          </p:cNvPr>
          <p:cNvSpPr/>
          <p:nvPr/>
        </p:nvSpPr>
        <p:spPr>
          <a:xfrm>
            <a:off x="3840632" y="4251960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6239DB-6526-ABED-995C-BE525ED8835E}"/>
              </a:ext>
            </a:extLst>
          </p:cNvPr>
          <p:cNvSpPr/>
          <p:nvPr/>
        </p:nvSpPr>
        <p:spPr>
          <a:xfrm>
            <a:off x="3840632" y="4251960"/>
            <a:ext cx="73152" cy="1051560"/>
          </a:xfrm>
          <a:prstGeom prst="rect">
            <a:avLst/>
          </a:prstGeom>
          <a:solidFill>
            <a:srgbClr val="31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A9E09A-588A-05E1-9339-5E93CB998FBD}"/>
              </a:ext>
            </a:extLst>
          </p:cNvPr>
          <p:cNvSpPr txBox="1"/>
          <p:nvPr/>
        </p:nvSpPr>
        <p:spPr>
          <a:xfrm>
            <a:off x="4041800" y="4416552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Monitor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830FB8-15C8-96CC-D5B2-04BFEE30A328}"/>
              </a:ext>
            </a:extLst>
          </p:cNvPr>
          <p:cNvSpPr txBox="1"/>
          <p:nvPr/>
        </p:nvSpPr>
        <p:spPr>
          <a:xfrm>
            <a:off x="4041800" y="4846320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5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Capture / ML pipeline</a:t>
            </a:r>
          </a:p>
        </p:txBody>
      </p: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224502BE-3701-3CF1-4F79-7F8B14C0E2B0}"/>
              </a:ext>
            </a:extLst>
          </p:cNvPr>
          <p:cNvCxnSpPr/>
          <p:nvPr/>
        </p:nvCxnSpPr>
        <p:spPr>
          <a:xfrm>
            <a:off x="3474872" y="2450592"/>
            <a:ext cx="320040" cy="0"/>
          </a:xfrm>
          <a:prstGeom prst="line">
            <a:avLst/>
          </a:prstGeom>
          <a:ln w="25400">
            <a:solidFill>
              <a:srgbClr val="5C6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>
            <a:extLst>
              <a:ext uri="{FF2B5EF4-FFF2-40B4-BE49-F238E27FC236}">
                <a16:creationId xmlns:a16="http://schemas.microsoft.com/office/drawing/2014/main" id="{6070B0E1-BF8B-3EE8-62E9-5CEEDCB69238}"/>
              </a:ext>
            </a:extLst>
          </p:cNvPr>
          <p:cNvCxnSpPr/>
          <p:nvPr/>
        </p:nvCxnSpPr>
        <p:spPr>
          <a:xfrm flipV="1">
            <a:off x="6583832" y="1828800"/>
            <a:ext cx="731520" cy="411480"/>
          </a:xfrm>
          <a:prstGeom prst="line">
            <a:avLst/>
          </a:prstGeom>
          <a:ln w="25400">
            <a:solidFill>
              <a:srgbClr val="5C6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622CE4C4-CE0C-0F58-75B4-F1E4A2DDFC7B}"/>
              </a:ext>
            </a:extLst>
          </p:cNvPr>
          <p:cNvCxnSpPr/>
          <p:nvPr/>
        </p:nvCxnSpPr>
        <p:spPr>
          <a:xfrm>
            <a:off x="6583832" y="2651760"/>
            <a:ext cx="731520" cy="594360"/>
          </a:xfrm>
          <a:prstGeom prst="line">
            <a:avLst/>
          </a:prstGeom>
          <a:ln w="25400">
            <a:solidFill>
              <a:srgbClr val="5C6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F13AADF2-6770-70F9-F015-F1B7A9595582}"/>
              </a:ext>
            </a:extLst>
          </p:cNvPr>
          <p:cNvCxnSpPr/>
          <p:nvPr/>
        </p:nvCxnSpPr>
        <p:spPr>
          <a:xfrm>
            <a:off x="5212232" y="3063240"/>
            <a:ext cx="0" cy="1097280"/>
          </a:xfrm>
          <a:prstGeom prst="line">
            <a:avLst/>
          </a:prstGeom>
          <a:ln w="25400">
            <a:solidFill>
              <a:srgbClr val="5C6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14765B1-7D67-5B57-8B76-D0824365DC7B}"/>
              </a:ext>
            </a:extLst>
          </p:cNvPr>
          <p:cNvSpPr txBox="1"/>
          <p:nvPr/>
        </p:nvSpPr>
        <p:spPr>
          <a:xfrm>
            <a:off x="823112" y="5715000"/>
            <a:ext cx="10424160" cy="343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spcAft>
                <a:spcPts val="700"/>
              </a:spcAft>
              <a:defRPr sz="1400">
                <a:solidFill>
                  <a:srgbClr val="242B36"/>
                </a:solidFill>
                <a:latin typeface="Aptos"/>
              </a:defRPr>
            </a:pPr>
            <a:r>
              <a:rPr sz="1600"/>
              <a:t>Kịch bản C: sinh BENIGN · DDoS · Port Scan · Brute Force trong Lab; hiệu chỉnh ngưỡng với FPR ≤ 1% và dùng kết quả để chốt giữa LightGBM và RF.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3558" y="158451"/>
            <a:ext cx="1016147" cy="6381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0" name="Google Shape;530;p13"/>
          <p:cNvCxnSpPr/>
          <p:nvPr/>
        </p:nvCxnSpPr>
        <p:spPr>
          <a:xfrm>
            <a:off x="0" y="839624"/>
            <a:ext cx="10800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532" name="Google Shape;532;p13"/>
          <p:cNvSpPr txBox="1"/>
          <p:nvPr/>
        </p:nvSpPr>
        <p:spPr>
          <a:xfrm>
            <a:off x="8216750" y="3554925"/>
            <a:ext cx="101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3"/>
          <p:cNvSpPr txBox="1"/>
          <p:nvPr/>
        </p:nvSpPr>
        <p:spPr>
          <a:xfrm>
            <a:off x="11237934" y="6481425"/>
            <a:ext cx="83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dirty="0"/>
          </a:p>
        </p:txBody>
      </p:sp>
      <p:sp>
        <p:nvSpPr>
          <p:cNvPr id="534" name="Google Shape;534;p13"/>
          <p:cNvSpPr txBox="1"/>
          <p:nvPr/>
        </p:nvSpPr>
        <p:spPr>
          <a:xfrm>
            <a:off x="350875" y="233093"/>
            <a:ext cx="9126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vi-VN" sz="2400" b="1" dirty="0">
                <a:solidFill>
                  <a:srgbClr val="5F74BE"/>
                </a:solidFill>
              </a:rPr>
              <a:t>9</a:t>
            </a:r>
            <a:r>
              <a:rPr lang="en-US" sz="2400" b="1" i="0" u="none" strike="noStrike" cap="none" dirty="0">
                <a:solidFill>
                  <a:srgbClr val="5F74B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vi-VN" sz="2400" b="1" i="0" u="none" strike="noStrike" cap="none" dirty="0">
                <a:solidFill>
                  <a:srgbClr val="5F74BE"/>
                </a:solidFill>
                <a:latin typeface="Arial"/>
                <a:ea typeface="Arial"/>
                <a:cs typeface="Arial"/>
                <a:sym typeface="Arial"/>
              </a:rPr>
              <a:t> Tiến độ 7 tuần đầu</a:t>
            </a:r>
            <a:endParaRPr sz="2400" b="0" i="0" u="none" strike="noStrike" cap="none" dirty="0">
              <a:solidFill>
                <a:srgbClr val="5F74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3"/>
          <p:cNvSpPr txBox="1"/>
          <p:nvPr/>
        </p:nvSpPr>
        <p:spPr>
          <a:xfrm>
            <a:off x="615949" y="6478270"/>
            <a:ext cx="1379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dirty="0">
                <a:solidFill>
                  <a:schemeClr val="dk1"/>
                </a:solidFill>
              </a:rPr>
              <a:t>03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0D6F65-8A7E-4921-AC66-53FDDA5B0027}"/>
              </a:ext>
            </a:extLst>
          </p:cNvPr>
          <p:cNvSpPr/>
          <p:nvPr/>
        </p:nvSpPr>
        <p:spPr>
          <a:xfrm>
            <a:off x="152" y="0"/>
            <a:ext cx="12191695" cy="109728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6B0DC1-872B-8BE6-67DE-EBAF38BFCEB6}"/>
              </a:ext>
            </a:extLst>
          </p:cNvPr>
          <p:cNvSpPr txBox="1"/>
          <p:nvPr/>
        </p:nvSpPr>
        <p:spPr>
          <a:xfrm>
            <a:off x="612800" y="841248"/>
            <a:ext cx="395973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dirty="0">
                <a:solidFill>
                  <a:srgbClr val="5C6674"/>
                </a:solidFill>
                <a:latin typeface="Aptos"/>
              </a:rPr>
              <a:t>Các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hạng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mục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đã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triển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khai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phục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vụ</a:t>
            </a:r>
            <a:r>
              <a:rPr sz="1200" dirty="0">
                <a:solidFill>
                  <a:srgbClr val="5C6674"/>
                </a:solidFill>
                <a:latin typeface="Aptos"/>
              </a:rPr>
              <a:t> Báo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cáo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tiến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độ</a:t>
            </a:r>
            <a:r>
              <a:rPr sz="1200" dirty="0">
                <a:solidFill>
                  <a:srgbClr val="5C6674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5C6674"/>
                </a:solidFill>
                <a:latin typeface="Aptos"/>
              </a:rPr>
              <a:t>lần</a:t>
            </a:r>
            <a:r>
              <a:rPr sz="1200" dirty="0">
                <a:solidFill>
                  <a:srgbClr val="5C6674"/>
                </a:solidFill>
                <a:latin typeface="Aptos"/>
              </a:rPr>
              <a:t>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85CA4-F53B-40BD-B4D2-1004A5C80F3F}"/>
              </a:ext>
            </a:extLst>
          </p:cNvPr>
          <p:cNvSpPr txBox="1"/>
          <p:nvPr/>
        </p:nvSpPr>
        <p:spPr>
          <a:xfrm>
            <a:off x="11384432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>
                <a:solidFill>
                  <a:srgbClr val="5C6674"/>
                </a:solidFill>
                <a:latin typeface="Aptos"/>
              </a:rPr>
              <a:t>11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572AF8-64AD-4809-0846-368CD76A5952}"/>
              </a:ext>
            </a:extLst>
          </p:cNvPr>
          <p:cNvSpPr/>
          <p:nvPr/>
        </p:nvSpPr>
        <p:spPr>
          <a:xfrm>
            <a:off x="914552" y="1828800"/>
            <a:ext cx="658368" cy="658368"/>
          </a:xfrm>
          <a:prstGeom prst="ellipse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T1</a:t>
            </a:r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C3E49BD1-7ABF-ACB5-149E-EF956C50634A}"/>
              </a:ext>
            </a:extLst>
          </p:cNvPr>
          <p:cNvCxnSpPr/>
          <p:nvPr/>
        </p:nvCxnSpPr>
        <p:spPr>
          <a:xfrm>
            <a:off x="1572920" y="2157984"/>
            <a:ext cx="1005840" cy="0"/>
          </a:xfrm>
          <a:prstGeom prst="line">
            <a:avLst/>
          </a:prstGeom>
          <a:ln w="381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299EC0D-A91F-D974-5454-27E436B40891}"/>
              </a:ext>
            </a:extLst>
          </p:cNvPr>
          <p:cNvSpPr txBox="1"/>
          <p:nvPr/>
        </p:nvSpPr>
        <p:spPr>
          <a:xfrm>
            <a:off x="503072" y="2651760"/>
            <a:ext cx="1508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50">
                <a:solidFill>
                  <a:srgbClr val="242B36"/>
                </a:solidFill>
                <a:latin typeface="Aptos"/>
              </a:defRPr>
            </a:pPr>
            <a:r>
              <a:t>Tổng quan lý thuyết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525A58-4BAB-6CE0-1544-7DA3D3BBFBE2}"/>
              </a:ext>
            </a:extLst>
          </p:cNvPr>
          <p:cNvSpPr/>
          <p:nvPr/>
        </p:nvSpPr>
        <p:spPr>
          <a:xfrm>
            <a:off x="2578760" y="1828800"/>
            <a:ext cx="658368" cy="658368"/>
          </a:xfrm>
          <a:prstGeom prst="ellipse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T2</a:t>
            </a: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ED95C595-4B1D-6909-4432-352DB36FFEAC}"/>
              </a:ext>
            </a:extLst>
          </p:cNvPr>
          <p:cNvCxnSpPr/>
          <p:nvPr/>
        </p:nvCxnSpPr>
        <p:spPr>
          <a:xfrm>
            <a:off x="3237128" y="2157984"/>
            <a:ext cx="1005840" cy="0"/>
          </a:xfrm>
          <a:prstGeom prst="line">
            <a:avLst/>
          </a:prstGeom>
          <a:ln w="381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E9E643-BB87-5945-BBB5-DB8279862922}"/>
              </a:ext>
            </a:extLst>
          </p:cNvPr>
          <p:cNvSpPr txBox="1"/>
          <p:nvPr/>
        </p:nvSpPr>
        <p:spPr>
          <a:xfrm>
            <a:off x="2167280" y="2651760"/>
            <a:ext cx="1508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50">
                <a:solidFill>
                  <a:srgbClr val="242B36"/>
                </a:solidFill>
                <a:latin typeface="Aptos"/>
              </a:defRPr>
            </a:pPr>
            <a:r>
              <a:t>Phân tích bài toán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C9994FF-C40E-49D8-CECC-7FEC01DE25AE}"/>
              </a:ext>
            </a:extLst>
          </p:cNvPr>
          <p:cNvSpPr/>
          <p:nvPr/>
        </p:nvSpPr>
        <p:spPr>
          <a:xfrm>
            <a:off x="4242968" y="1828800"/>
            <a:ext cx="658368" cy="658368"/>
          </a:xfrm>
          <a:prstGeom prst="ellipse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T3</a:t>
            </a: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A0F06E58-1B9B-12AE-E119-7EA8EAB13F10}"/>
              </a:ext>
            </a:extLst>
          </p:cNvPr>
          <p:cNvCxnSpPr/>
          <p:nvPr/>
        </p:nvCxnSpPr>
        <p:spPr>
          <a:xfrm>
            <a:off x="4901336" y="2157984"/>
            <a:ext cx="1005840" cy="0"/>
          </a:xfrm>
          <a:prstGeom prst="line">
            <a:avLst/>
          </a:prstGeom>
          <a:ln w="381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F04FE95-A482-E222-C66E-BF66CE51F1A4}"/>
              </a:ext>
            </a:extLst>
          </p:cNvPr>
          <p:cNvSpPr txBox="1"/>
          <p:nvPr/>
        </p:nvSpPr>
        <p:spPr>
          <a:xfrm>
            <a:off x="3831488" y="2651760"/>
            <a:ext cx="1508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50">
                <a:solidFill>
                  <a:srgbClr val="242B36"/>
                </a:solidFill>
                <a:latin typeface="Aptos"/>
              </a:defRPr>
            </a:pPr>
            <a:r>
              <a:t>Đề cương · phân công · Lab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C22C50A-3441-3B1C-FBF7-1B217750F3E1}"/>
              </a:ext>
            </a:extLst>
          </p:cNvPr>
          <p:cNvSpPr/>
          <p:nvPr/>
        </p:nvSpPr>
        <p:spPr>
          <a:xfrm>
            <a:off x="5907176" y="1828800"/>
            <a:ext cx="658368" cy="658368"/>
          </a:xfrm>
          <a:prstGeom prst="ellipse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T4</a:t>
            </a:r>
          </a:p>
        </p:txBody>
      </p: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A234A10E-1DBD-E6C3-A2EA-CCBAA2663FFC}"/>
              </a:ext>
            </a:extLst>
          </p:cNvPr>
          <p:cNvCxnSpPr/>
          <p:nvPr/>
        </p:nvCxnSpPr>
        <p:spPr>
          <a:xfrm>
            <a:off x="6565544" y="2157984"/>
            <a:ext cx="1005839" cy="0"/>
          </a:xfrm>
          <a:prstGeom prst="line">
            <a:avLst/>
          </a:prstGeom>
          <a:ln w="381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BD6A247-3B0D-25C0-56BD-8707E4097881}"/>
              </a:ext>
            </a:extLst>
          </p:cNvPr>
          <p:cNvSpPr txBox="1"/>
          <p:nvPr/>
        </p:nvSpPr>
        <p:spPr>
          <a:xfrm>
            <a:off x="5495696" y="2651760"/>
            <a:ext cx="1508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50">
                <a:solidFill>
                  <a:srgbClr val="242B36"/>
                </a:solidFill>
                <a:latin typeface="Aptos"/>
              </a:defRPr>
            </a:pPr>
            <a:r>
              <a:t>Lab · thu thập dữ liệu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C5A88EA-A6F2-BC51-57E4-E889319EDCEC}"/>
              </a:ext>
            </a:extLst>
          </p:cNvPr>
          <p:cNvSpPr/>
          <p:nvPr/>
        </p:nvSpPr>
        <p:spPr>
          <a:xfrm>
            <a:off x="7571383" y="1828800"/>
            <a:ext cx="658368" cy="658368"/>
          </a:xfrm>
          <a:prstGeom prst="ellipse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T5</a:t>
            </a: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9D35C0A8-4E6B-759F-6556-0499E7C909D2}"/>
              </a:ext>
            </a:extLst>
          </p:cNvPr>
          <p:cNvCxnSpPr/>
          <p:nvPr/>
        </p:nvCxnSpPr>
        <p:spPr>
          <a:xfrm>
            <a:off x="8229752" y="2157984"/>
            <a:ext cx="1005840" cy="0"/>
          </a:xfrm>
          <a:prstGeom prst="line">
            <a:avLst/>
          </a:prstGeom>
          <a:ln w="381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BD0DA5B-68D9-7497-5A92-FB8796E6FC60}"/>
              </a:ext>
            </a:extLst>
          </p:cNvPr>
          <p:cNvSpPr txBox="1"/>
          <p:nvPr/>
        </p:nvSpPr>
        <p:spPr>
          <a:xfrm>
            <a:off x="7159904" y="2651760"/>
            <a:ext cx="1508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50">
                <a:solidFill>
                  <a:srgbClr val="242B36"/>
                </a:solidFill>
                <a:latin typeface="Aptos"/>
              </a:defRPr>
            </a:pPr>
            <a:r>
              <a:t>Làm sạch · chuẩn hóa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0A1C4C0-D8B5-9941-5AAD-6896B88C246D}"/>
              </a:ext>
            </a:extLst>
          </p:cNvPr>
          <p:cNvSpPr/>
          <p:nvPr/>
        </p:nvSpPr>
        <p:spPr>
          <a:xfrm>
            <a:off x="9235592" y="1828800"/>
            <a:ext cx="658368" cy="658368"/>
          </a:xfrm>
          <a:prstGeom prst="ellipse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T6</a:t>
            </a:r>
          </a:p>
        </p:txBody>
      </p: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521AD1D1-032F-A4D3-BF9C-A0068FFDCC08}"/>
              </a:ext>
            </a:extLst>
          </p:cNvPr>
          <p:cNvCxnSpPr/>
          <p:nvPr/>
        </p:nvCxnSpPr>
        <p:spPr>
          <a:xfrm>
            <a:off x="9893960" y="2157984"/>
            <a:ext cx="1005840" cy="0"/>
          </a:xfrm>
          <a:prstGeom prst="line">
            <a:avLst/>
          </a:prstGeom>
          <a:ln w="38100">
            <a:solidFill>
              <a:srgbClr val="DB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411CCB3-66E0-23D0-10CC-7F58F4F0E635}"/>
              </a:ext>
            </a:extLst>
          </p:cNvPr>
          <p:cNvSpPr txBox="1"/>
          <p:nvPr/>
        </p:nvSpPr>
        <p:spPr>
          <a:xfrm>
            <a:off x="8824112" y="2651760"/>
            <a:ext cx="1508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50">
                <a:solidFill>
                  <a:srgbClr val="242B36"/>
                </a:solidFill>
                <a:latin typeface="Aptos"/>
              </a:defRPr>
            </a:pPr>
            <a:r>
              <a:t>EDA · Leakage · FS · Scaling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FFA1686-FDD4-1B84-EDA0-D8261C876CB2}"/>
              </a:ext>
            </a:extLst>
          </p:cNvPr>
          <p:cNvSpPr/>
          <p:nvPr/>
        </p:nvSpPr>
        <p:spPr>
          <a:xfrm>
            <a:off x="10899800" y="1828800"/>
            <a:ext cx="658368" cy="658368"/>
          </a:xfrm>
          <a:prstGeom prst="ellipse">
            <a:avLst/>
          </a:prstGeom>
          <a:solidFill>
            <a:srgbClr val="2B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C03B5B-0C07-D0B4-D23A-A0672ABB603D}"/>
              </a:ext>
            </a:extLst>
          </p:cNvPr>
          <p:cNvSpPr txBox="1"/>
          <p:nvPr/>
        </p:nvSpPr>
        <p:spPr>
          <a:xfrm>
            <a:off x="10488320" y="2651760"/>
            <a:ext cx="1508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50">
                <a:solidFill>
                  <a:srgbClr val="242B36"/>
                </a:solidFill>
                <a:latin typeface="Aptos"/>
              </a:defRPr>
            </a:pPr>
            <a:r>
              <a:t>Tổng hợp BC1 · slide · báo cáo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97A39F-6B5F-34EC-FA61-730399FC6D7F}"/>
              </a:ext>
            </a:extLst>
          </p:cNvPr>
          <p:cNvSpPr txBox="1"/>
          <p:nvPr/>
        </p:nvSpPr>
        <p:spPr>
          <a:xfrm>
            <a:off x="823112" y="4434840"/>
            <a:ext cx="10424160" cy="9499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spcAft>
                <a:spcPts val="700"/>
              </a:spcAft>
              <a:defRPr sz="155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Đã hoàn thiện dữ liệu hợp nhất và thực nghiệm RF, XGBoost, LightGBM, MLP trên cùng giao thức.
Trọng tâm tiếp theo: Kịch bản C trên dữ liệu Lab, hiệu chỉnh ngưỡng và tích hợp mô hình vào hệ thống.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50">
                <a:solidFill>
                  <a:srgbClr val="242B36"/>
                </a:solidFill>
                <a:latin typeface="Aptos"/>
              </a:defRPr>
            </a:pPr>
            <a:endParaRPr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3558" y="158451"/>
            <a:ext cx="1016147" cy="6381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1" name="Google Shape;541;p14"/>
          <p:cNvCxnSpPr/>
          <p:nvPr/>
        </p:nvCxnSpPr>
        <p:spPr>
          <a:xfrm>
            <a:off x="0" y="839624"/>
            <a:ext cx="10800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543" name="Google Shape;543;p14"/>
          <p:cNvSpPr txBox="1"/>
          <p:nvPr/>
        </p:nvSpPr>
        <p:spPr>
          <a:xfrm>
            <a:off x="8216750" y="3554925"/>
            <a:ext cx="101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4"/>
          <p:cNvSpPr txBox="1"/>
          <p:nvPr/>
        </p:nvSpPr>
        <p:spPr>
          <a:xfrm>
            <a:off x="11237934" y="6481425"/>
            <a:ext cx="83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dirty="0"/>
          </a:p>
        </p:txBody>
      </p:sp>
      <p:sp>
        <p:nvSpPr>
          <p:cNvPr id="545" name="Google Shape;545;p14"/>
          <p:cNvSpPr txBox="1"/>
          <p:nvPr/>
        </p:nvSpPr>
        <p:spPr>
          <a:xfrm>
            <a:off x="523404" y="254556"/>
            <a:ext cx="9126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vi-VN" sz="2400" b="1" dirty="0">
                <a:solidFill>
                  <a:srgbClr val="5F74BE"/>
                </a:solidFill>
              </a:rPr>
              <a:t>10</a:t>
            </a:r>
            <a:r>
              <a:rPr lang="vi-VN" sz="2400" b="1" i="0" u="none" strike="noStrike" cap="none" dirty="0">
                <a:solidFill>
                  <a:srgbClr val="5F74BE"/>
                </a:solidFill>
                <a:latin typeface="Arial"/>
                <a:ea typeface="Arial"/>
                <a:cs typeface="Arial"/>
                <a:sym typeface="Arial"/>
              </a:rPr>
              <a:t>. Phân công nhóm</a:t>
            </a:r>
            <a:endParaRPr sz="2400" b="0" i="0" u="none" strike="noStrike" cap="none" dirty="0">
              <a:solidFill>
                <a:srgbClr val="5F74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4"/>
          <p:cNvSpPr txBox="1"/>
          <p:nvPr/>
        </p:nvSpPr>
        <p:spPr>
          <a:xfrm>
            <a:off x="615949" y="6478270"/>
            <a:ext cx="14389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dirty="0">
                <a:solidFill>
                  <a:schemeClr val="dk1"/>
                </a:solidFill>
              </a:rPr>
              <a:t>03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6D958-3290-2DB0-E5E0-D9A5974BF60D}"/>
              </a:ext>
            </a:extLst>
          </p:cNvPr>
          <p:cNvSpPr/>
          <p:nvPr/>
        </p:nvSpPr>
        <p:spPr>
          <a:xfrm>
            <a:off x="152" y="0"/>
            <a:ext cx="12191695" cy="109728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32D1BD-505F-C4DC-5223-E7D31B8DD159}"/>
              </a:ext>
            </a:extLst>
          </p:cNvPr>
          <p:cNvSpPr txBox="1"/>
          <p:nvPr/>
        </p:nvSpPr>
        <p:spPr>
          <a:xfrm>
            <a:off x="612800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050">
                <a:solidFill>
                  <a:srgbClr val="5C6674"/>
                </a:solidFill>
                <a:latin typeface="Aptos"/>
              </a:rPr>
              <a:t>5 thành viên – các module được triển khai song song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E27E38-2091-1ED3-E514-0184EB25C8C5}"/>
              </a:ext>
            </a:extLst>
          </p:cNvPr>
          <p:cNvSpPr txBox="1"/>
          <p:nvPr/>
        </p:nvSpPr>
        <p:spPr>
          <a:xfrm>
            <a:off x="11384432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>
                <a:solidFill>
                  <a:srgbClr val="5C6674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C1CA076-456F-3846-4F5D-2F307ECEF3B3}"/>
              </a:ext>
            </a:extLst>
          </p:cNvPr>
          <p:cNvSpPr/>
          <p:nvPr/>
        </p:nvSpPr>
        <p:spPr>
          <a:xfrm>
            <a:off x="823112" y="1234440"/>
            <a:ext cx="10515600" cy="713232"/>
          </a:xfrm>
          <a:prstGeom prst="roundRect">
            <a:avLst/>
          </a:prstGeom>
          <a:solidFill>
            <a:srgbClr val="F3F6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719A87-9497-055D-5DAF-88936A58A254}"/>
              </a:ext>
            </a:extLst>
          </p:cNvPr>
          <p:cNvSpPr txBox="1"/>
          <p:nvPr/>
        </p:nvSpPr>
        <p:spPr>
          <a:xfrm>
            <a:off x="1051712" y="1353312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Đoàn Lê Đức Anh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AE2CA2-5205-0A9A-392F-D1C388B0DCE7}"/>
              </a:ext>
            </a:extLst>
          </p:cNvPr>
          <p:cNvSpPr txBox="1"/>
          <p:nvPr/>
        </p:nvSpPr>
        <p:spPr>
          <a:xfrm>
            <a:off x="5486552" y="13533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>
                <a:solidFill>
                  <a:srgbClr val="1D8185"/>
                </a:solidFill>
                <a:latin typeface="Aptos"/>
              </a:rPr>
              <a:t>Lab simulation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C6E1DC9-3A42-F1A6-0954-080E4B7AF09E}"/>
              </a:ext>
            </a:extLst>
          </p:cNvPr>
          <p:cNvSpPr/>
          <p:nvPr/>
        </p:nvSpPr>
        <p:spPr>
          <a:xfrm>
            <a:off x="823112" y="2194560"/>
            <a:ext cx="10515600" cy="713232"/>
          </a:xfrm>
          <a:prstGeom prst="roundRect">
            <a:avLst/>
          </a:prstGeom>
          <a:solidFill>
            <a:srgbClr val="F3F6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A65EDE-750F-B0DF-0310-170909F4A277}"/>
              </a:ext>
            </a:extLst>
          </p:cNvPr>
          <p:cNvSpPr txBox="1"/>
          <p:nvPr/>
        </p:nvSpPr>
        <p:spPr>
          <a:xfrm>
            <a:off x="1051712" y="2313432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Trương Nguyễn Đức Anh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DBB5FC-5F3C-BAEE-9451-6E75C6B4DDF7}"/>
              </a:ext>
            </a:extLst>
          </p:cNvPr>
          <p:cNvSpPr txBox="1"/>
          <p:nvPr/>
        </p:nvSpPr>
        <p:spPr>
          <a:xfrm>
            <a:off x="5486552" y="231343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Dashboard · Docker · kiểm thử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BD82AF3-A62A-FB20-F0A3-371D0734DF58}"/>
              </a:ext>
            </a:extLst>
          </p:cNvPr>
          <p:cNvSpPr/>
          <p:nvPr/>
        </p:nvSpPr>
        <p:spPr>
          <a:xfrm>
            <a:off x="823112" y="3154680"/>
            <a:ext cx="10515600" cy="713232"/>
          </a:xfrm>
          <a:prstGeom prst="roundRect">
            <a:avLst/>
          </a:prstGeom>
          <a:solidFill>
            <a:srgbClr val="F3F6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F5D6A7-EEBD-D4BD-0889-1994C374B4EE}"/>
              </a:ext>
            </a:extLst>
          </p:cNvPr>
          <p:cNvSpPr txBox="1"/>
          <p:nvPr/>
        </p:nvSpPr>
        <p:spPr>
          <a:xfrm>
            <a:off x="1051712" y="3273552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Nguyễn Huy Hoàng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B7453F-27F2-C9E8-143B-866747BE04CB}"/>
              </a:ext>
            </a:extLst>
          </p:cNvPr>
          <p:cNvSpPr txBox="1"/>
          <p:nvPr/>
        </p:nvSpPr>
        <p:spPr>
          <a:xfrm>
            <a:off x="5486552" y="327355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Backend · FastAPI · cảnh báo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E8A5721-09A3-5672-8DF8-63C4DB14BFFD}"/>
              </a:ext>
            </a:extLst>
          </p:cNvPr>
          <p:cNvSpPr/>
          <p:nvPr/>
        </p:nvSpPr>
        <p:spPr>
          <a:xfrm>
            <a:off x="823112" y="4114800"/>
            <a:ext cx="10515600" cy="713232"/>
          </a:xfrm>
          <a:prstGeom prst="roundRect">
            <a:avLst/>
          </a:prstGeom>
          <a:solidFill>
            <a:srgbClr val="F3F6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0587DE-5C58-AE02-53E7-E94487A1B431}"/>
              </a:ext>
            </a:extLst>
          </p:cNvPr>
          <p:cNvSpPr txBox="1"/>
          <p:nvPr/>
        </p:nvSpPr>
        <p:spPr>
          <a:xfrm>
            <a:off x="1051712" y="4233672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Nguyễn Văn Khải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04A823-1434-F109-2DC3-EEF8434243D6}"/>
              </a:ext>
            </a:extLst>
          </p:cNvPr>
          <p:cNvSpPr txBox="1"/>
          <p:nvPr/>
        </p:nvSpPr>
        <p:spPr>
          <a:xfrm>
            <a:off x="5486552" y="423367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Model training · Isolation Forest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5F0A7AF-24F1-95F4-1B64-9BED613BFD0B}"/>
              </a:ext>
            </a:extLst>
          </p:cNvPr>
          <p:cNvSpPr/>
          <p:nvPr/>
        </p:nvSpPr>
        <p:spPr>
          <a:xfrm>
            <a:off x="823112" y="5074920"/>
            <a:ext cx="10515600" cy="713232"/>
          </a:xfrm>
          <a:prstGeom prst="roundRect">
            <a:avLst/>
          </a:prstGeom>
          <a:solidFill>
            <a:srgbClr val="F3F6FA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F116B6-0559-7233-F5A5-34D2E129B27C}"/>
              </a:ext>
            </a:extLst>
          </p:cNvPr>
          <p:cNvSpPr txBox="1"/>
          <p:nvPr/>
        </p:nvSpPr>
        <p:spPr>
          <a:xfrm>
            <a:off x="1051712" y="5193792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Phùng Ngọc Linh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F2483D-12B3-0E08-76A4-81FEE6830310}"/>
              </a:ext>
            </a:extLst>
          </p:cNvPr>
          <p:cNvSpPr txBox="1"/>
          <p:nvPr/>
        </p:nvSpPr>
        <p:spPr>
          <a:xfrm>
            <a:off x="5486552" y="519379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Data pipeline · EDA · feature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3558" y="158451"/>
            <a:ext cx="1016147" cy="6381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2" name="Google Shape;552;p15"/>
          <p:cNvCxnSpPr/>
          <p:nvPr/>
        </p:nvCxnSpPr>
        <p:spPr>
          <a:xfrm>
            <a:off x="0" y="839624"/>
            <a:ext cx="10800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553" name="Google Shape;553;p15"/>
          <p:cNvSpPr txBox="1"/>
          <p:nvPr/>
        </p:nvSpPr>
        <p:spPr>
          <a:xfrm>
            <a:off x="350875" y="1022900"/>
            <a:ext cx="11067900" cy="62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5"/>
          <p:cNvSpPr txBox="1"/>
          <p:nvPr/>
        </p:nvSpPr>
        <p:spPr>
          <a:xfrm>
            <a:off x="8216750" y="3554925"/>
            <a:ext cx="101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5"/>
          <p:cNvSpPr txBox="1"/>
          <p:nvPr/>
        </p:nvSpPr>
        <p:spPr>
          <a:xfrm>
            <a:off x="11237934" y="6481425"/>
            <a:ext cx="83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dirty="0"/>
          </a:p>
        </p:txBody>
      </p:sp>
      <p:sp>
        <p:nvSpPr>
          <p:cNvPr id="557" name="Google Shape;557;p15"/>
          <p:cNvSpPr txBox="1"/>
          <p:nvPr/>
        </p:nvSpPr>
        <p:spPr>
          <a:xfrm>
            <a:off x="765315" y="211063"/>
            <a:ext cx="9126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vi-VN" sz="2400" b="1" dirty="0">
                <a:solidFill>
                  <a:srgbClr val="5F74BE"/>
                </a:solidFill>
              </a:rPr>
              <a:t>1</a:t>
            </a:r>
            <a:r>
              <a:rPr lang="en-US" sz="2400" b="1" i="0" u="none" strike="noStrike" cap="none" dirty="0">
                <a:solidFill>
                  <a:srgbClr val="5F74BE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vi-VN" sz="2400" b="1" i="0" u="none" strike="noStrike" cap="none" dirty="0">
                <a:solidFill>
                  <a:srgbClr val="5F74BE"/>
                </a:solidFill>
                <a:latin typeface="Arial"/>
                <a:ea typeface="Arial"/>
                <a:cs typeface="Arial"/>
                <a:sym typeface="Arial"/>
              </a:rPr>
              <a:t> Kết quả đạt được đến BC1</a:t>
            </a:r>
            <a:endParaRPr sz="2400" b="0" i="0" u="none" strike="noStrike" cap="none" dirty="0">
              <a:solidFill>
                <a:srgbClr val="5F74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5"/>
          <p:cNvSpPr txBox="1"/>
          <p:nvPr/>
        </p:nvSpPr>
        <p:spPr>
          <a:xfrm>
            <a:off x="615949" y="6478270"/>
            <a:ext cx="14193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dirty="0">
                <a:solidFill>
                  <a:schemeClr val="dk1"/>
                </a:solidFill>
              </a:rPr>
              <a:t>03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5C1CDF-EB0B-EEC3-0A31-61976A2AEE5A}"/>
              </a:ext>
            </a:extLst>
          </p:cNvPr>
          <p:cNvSpPr/>
          <p:nvPr/>
        </p:nvSpPr>
        <p:spPr>
          <a:xfrm>
            <a:off x="152" y="0"/>
            <a:ext cx="12191695" cy="109728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529BB-D693-09E3-FEC3-1C9303F9F23E}"/>
              </a:ext>
            </a:extLst>
          </p:cNvPr>
          <p:cNvSpPr txBox="1"/>
          <p:nvPr/>
        </p:nvSpPr>
        <p:spPr>
          <a:xfrm>
            <a:off x="612800" y="841248"/>
            <a:ext cx="31435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dirty="0" err="1">
                <a:solidFill>
                  <a:srgbClr val="5C6674"/>
                </a:solidFill>
                <a:latin typeface="Aptos"/>
              </a:rPr>
              <a:t>Các kết quả chính đã hoàn thành đến thời điểm báo cáo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866611-9D96-8F47-51E8-C0ACDAF7F8B5}"/>
              </a:ext>
            </a:extLst>
          </p:cNvPr>
          <p:cNvSpPr txBox="1"/>
          <p:nvPr/>
        </p:nvSpPr>
        <p:spPr>
          <a:xfrm>
            <a:off x="11384432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>
                <a:solidFill>
                  <a:srgbClr val="5C6674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3FF973-8F0E-12AF-9EE3-D03FE8B2E6CC}"/>
              </a:ext>
            </a:extLst>
          </p:cNvPr>
          <p:cNvSpPr/>
          <p:nvPr/>
        </p:nvSpPr>
        <p:spPr>
          <a:xfrm>
            <a:off x="640232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B201B2-E323-5120-F09C-89BF3B3A6830}"/>
              </a:ext>
            </a:extLst>
          </p:cNvPr>
          <p:cNvSpPr/>
          <p:nvPr/>
        </p:nvSpPr>
        <p:spPr>
          <a:xfrm>
            <a:off x="640232" y="1325880"/>
            <a:ext cx="73152" cy="1645920"/>
          </a:xfrm>
          <a:prstGeom prst="rect">
            <a:avLst/>
          </a:prstGeom>
          <a:solidFill>
            <a:srgbClr val="2B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15CF02-F25A-2EBA-F20A-3E2C4E424E3D}"/>
              </a:ext>
            </a:extLst>
          </p:cNvPr>
          <p:cNvSpPr txBox="1"/>
          <p:nvPr/>
        </p:nvSpPr>
        <p:spPr>
          <a:xfrm>
            <a:off x="841399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Dữ liệu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B57971-7C92-54CF-3C39-E32860403F8B}"/>
              </a:ext>
            </a:extLst>
          </p:cNvPr>
          <p:cNvSpPr txBox="1"/>
          <p:nvPr/>
        </p:nvSpPr>
        <p:spPr>
          <a:xfrm>
            <a:off x="841399" y="192024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Hợp nhất 3 bộ dữ liệu; 2.606.915 luồng; 4 nhãn thống nhất.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6DEFC14-7B43-F2C3-006E-8D32F7984FF9}"/>
              </a:ext>
            </a:extLst>
          </p:cNvPr>
          <p:cNvSpPr/>
          <p:nvPr/>
        </p:nvSpPr>
        <p:spPr>
          <a:xfrm>
            <a:off x="4434992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1286C6-026F-2D51-1326-4A81D9D3F0FF}"/>
              </a:ext>
            </a:extLst>
          </p:cNvPr>
          <p:cNvSpPr/>
          <p:nvPr/>
        </p:nvSpPr>
        <p:spPr>
          <a:xfrm>
            <a:off x="4434992" y="1325880"/>
            <a:ext cx="73152" cy="1645920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A1D547-D3FC-37E9-3499-7C9B48612B14}"/>
              </a:ext>
            </a:extLst>
          </p:cNvPr>
          <p:cNvSpPr txBox="1"/>
          <p:nvPr/>
        </p:nvSpPr>
        <p:spPr>
          <a:xfrm>
            <a:off x="4636160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Đặc trưng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9B287E-D924-374D-0E58-6FF42BB81532}"/>
              </a:ext>
            </a:extLst>
          </p:cNvPr>
          <p:cNvSpPr txBox="1"/>
          <p:nvPr/>
        </p:nvSpPr>
        <p:spPr>
          <a:xfrm>
            <a:off x="4636160" y="192024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56 đặc trưng F_NOOS; loại trường định danh và dấu vết hệ điều hành.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7755C47-98B4-5519-C341-5AF0FF0A054E}"/>
              </a:ext>
            </a:extLst>
          </p:cNvPr>
          <p:cNvSpPr/>
          <p:nvPr/>
        </p:nvSpPr>
        <p:spPr>
          <a:xfrm>
            <a:off x="8229752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8F3686-1030-50FD-D0BA-B27AECC2774D}"/>
              </a:ext>
            </a:extLst>
          </p:cNvPr>
          <p:cNvSpPr/>
          <p:nvPr/>
        </p:nvSpPr>
        <p:spPr>
          <a:xfrm>
            <a:off x="8229752" y="1325880"/>
            <a:ext cx="73152" cy="1645920"/>
          </a:xfrm>
          <a:prstGeom prst="rect">
            <a:avLst/>
          </a:prstGeom>
          <a:solidFill>
            <a:srgbClr val="31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760E07-13C0-4799-8EF6-5D0EDC0F5AD1}"/>
              </a:ext>
            </a:extLst>
          </p:cNvPr>
          <p:cNvSpPr txBox="1"/>
          <p:nvPr/>
        </p:nvSpPr>
        <p:spPr>
          <a:xfrm>
            <a:off x="8430920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Mô hình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26D7F4-9A8E-A33F-725C-B2B4B496B19F}"/>
              </a:ext>
            </a:extLst>
          </p:cNvPr>
          <p:cNvSpPr txBox="1"/>
          <p:nvPr/>
        </p:nvSpPr>
        <p:spPr>
          <a:xfrm>
            <a:off x="8430920" y="192024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Đã huấn luyện và đánh giá Random Forest, XGBoost, LightGBM và MLP.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19F4F41-36BC-6C71-B29C-E2378522BD77}"/>
              </a:ext>
            </a:extLst>
          </p:cNvPr>
          <p:cNvSpPr/>
          <p:nvPr/>
        </p:nvSpPr>
        <p:spPr>
          <a:xfrm>
            <a:off x="2469032" y="37947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C7CA94-9546-95E0-96FF-055AC16C57BE}"/>
              </a:ext>
            </a:extLst>
          </p:cNvPr>
          <p:cNvSpPr/>
          <p:nvPr/>
        </p:nvSpPr>
        <p:spPr>
          <a:xfrm>
            <a:off x="2469032" y="3794760"/>
            <a:ext cx="73152" cy="1645920"/>
          </a:xfrm>
          <a:prstGeom prst="rect">
            <a:avLst/>
          </a:prstGeom>
          <a:solidFill>
            <a:srgbClr val="C17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944B93-4506-4AD3-9F8F-C70662431367}"/>
              </a:ext>
            </a:extLst>
          </p:cNvPr>
          <p:cNvSpPr txBox="1"/>
          <p:nvPr/>
        </p:nvSpPr>
        <p:spPr>
          <a:xfrm>
            <a:off x="2670200" y="395935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Kết quả tốt nhất – Kịch bản 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46CECA-1397-A15D-DAEB-C5F75C73F9E5}"/>
              </a:ext>
            </a:extLst>
          </p:cNvPr>
          <p:cNvSpPr txBox="1"/>
          <p:nvPr/>
        </p:nvSpPr>
        <p:spPr>
          <a:xfrm>
            <a:off x="2670200" y="438912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/>
              <a:t>Kịch bản A: LightGBM macro-F1 0,9988; FN = 47. Lựa chọn triển khai hiện mới là sơ bộ.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F6C1CFA-498B-E682-3454-771EF646E2C6}"/>
              </a:ext>
            </a:extLst>
          </p:cNvPr>
          <p:cNvSpPr/>
          <p:nvPr/>
        </p:nvSpPr>
        <p:spPr>
          <a:xfrm>
            <a:off x="6263792" y="37947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8C6165-1714-8164-8D01-55D2986D7384}"/>
              </a:ext>
            </a:extLst>
          </p:cNvPr>
          <p:cNvSpPr/>
          <p:nvPr/>
        </p:nvSpPr>
        <p:spPr>
          <a:xfrm>
            <a:off x="6263792" y="3794760"/>
            <a:ext cx="73152" cy="1645920"/>
          </a:xfrm>
          <a:prstGeom prst="rect">
            <a:avLst/>
          </a:prstGeom>
          <a:solidFill>
            <a:srgbClr val="14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067D92-2E7B-BDF1-2D20-444525A74B07}"/>
              </a:ext>
            </a:extLst>
          </p:cNvPr>
          <p:cNvSpPr txBox="1"/>
          <p:nvPr/>
        </p:nvSpPr>
        <p:spPr>
          <a:xfrm>
            <a:off x="6464960" y="395935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Bước tiếp theo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6C779F-D4C1-0FE1-DC17-B9C5CE2B06F5}"/>
              </a:ext>
            </a:extLst>
          </p:cNvPr>
          <p:cNvSpPr txBox="1"/>
          <p:nvPr/>
        </p:nvSpPr>
        <p:spPr>
          <a:xfrm>
            <a:off x="6464960" y="438912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/>
              <a:t>Kịch bản C trên Lab → Isolation Forest → chốt mô hình → FastAPI → Backend/Dashboard.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3558" y="158451"/>
            <a:ext cx="1016147" cy="6381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5" name="Google Shape;565;p16"/>
          <p:cNvCxnSpPr/>
          <p:nvPr/>
        </p:nvCxnSpPr>
        <p:spPr>
          <a:xfrm>
            <a:off x="0" y="839624"/>
            <a:ext cx="10800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566" name="Google Shape;566;p16"/>
          <p:cNvSpPr txBox="1"/>
          <p:nvPr/>
        </p:nvSpPr>
        <p:spPr>
          <a:xfrm>
            <a:off x="304100" y="181455"/>
            <a:ext cx="912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vi-VN" sz="2300" b="1" dirty="0">
                <a:solidFill>
                  <a:srgbClr val="0070C0"/>
                </a:solidFill>
              </a:rPr>
              <a:t>1</a:t>
            </a:r>
            <a:r>
              <a:rPr lang="en-US" sz="2300" b="1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vi-VN" sz="2300" b="1" dirty="0">
                <a:solidFill>
                  <a:srgbClr val="0070C0"/>
                </a:solidFill>
              </a:rPr>
              <a:t>Kế hoạch giai đoạn tiếp theo</a:t>
            </a:r>
            <a:endParaRPr sz="2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6"/>
          <p:cNvSpPr txBox="1"/>
          <p:nvPr/>
        </p:nvSpPr>
        <p:spPr>
          <a:xfrm>
            <a:off x="11237934" y="6481425"/>
            <a:ext cx="83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dirty="0"/>
          </a:p>
        </p:txBody>
      </p:sp>
      <p:sp>
        <p:nvSpPr>
          <p:cNvPr id="570" name="Google Shape;570;p16"/>
          <p:cNvSpPr txBox="1"/>
          <p:nvPr/>
        </p:nvSpPr>
        <p:spPr>
          <a:xfrm>
            <a:off x="615949" y="6478270"/>
            <a:ext cx="15668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dirty="0">
                <a:solidFill>
                  <a:schemeClr val="dk1"/>
                </a:solidFill>
              </a:rPr>
              <a:t>03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6D64FB-7616-A7FB-61DC-1A0D8BC2052A}"/>
              </a:ext>
            </a:extLst>
          </p:cNvPr>
          <p:cNvSpPr/>
          <p:nvPr/>
        </p:nvSpPr>
        <p:spPr>
          <a:xfrm>
            <a:off x="152" y="0"/>
            <a:ext cx="12191695" cy="109728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122BD3-F4F1-3D5B-D7B3-B6454599B093}"/>
              </a:ext>
            </a:extLst>
          </p:cNvPr>
          <p:cNvSpPr txBox="1"/>
          <p:nvPr/>
        </p:nvSpPr>
        <p:spPr>
          <a:xfrm>
            <a:off x="612800" y="841248"/>
            <a:ext cx="592341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dirty="0" err="1">
                <a:solidFill>
                  <a:srgbClr val="5C6674"/>
                </a:solidFill>
                <a:latin typeface="Aptos"/>
              </a:rPr>
              <a:t>Chuyển từ thực nghiệm mô hình sang kiểm chứng Lab, tích hợp và kiểm thử end-to-end</a:t>
            </a:r>
            <a:endParaRPr sz="1600" dirty="0">
              <a:solidFill>
                <a:srgbClr val="5C6674"/>
              </a:solidFill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624C75-D6D4-E564-B6E0-CE788F11F109}"/>
              </a:ext>
            </a:extLst>
          </p:cNvPr>
          <p:cNvSpPr txBox="1"/>
          <p:nvPr/>
        </p:nvSpPr>
        <p:spPr>
          <a:xfrm>
            <a:off x="11384432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>
                <a:solidFill>
                  <a:srgbClr val="5C6674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56F21FB-3FAE-A575-1B04-C6C4F277EE13}"/>
              </a:ext>
            </a:extLst>
          </p:cNvPr>
          <p:cNvSpPr/>
          <p:nvPr/>
        </p:nvSpPr>
        <p:spPr>
          <a:xfrm>
            <a:off x="640232" y="13258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B44DD4-CCA2-4047-6BD6-D17ADFDFB6AA}"/>
              </a:ext>
            </a:extLst>
          </p:cNvPr>
          <p:cNvSpPr/>
          <p:nvPr/>
        </p:nvSpPr>
        <p:spPr>
          <a:xfrm>
            <a:off x="640232" y="1325880"/>
            <a:ext cx="73152" cy="1783080"/>
          </a:xfrm>
          <a:prstGeom prst="rect">
            <a:avLst/>
          </a:prstGeom>
          <a:solidFill>
            <a:srgbClr val="2B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894B24-5806-CC67-A237-CDC960F10182}"/>
              </a:ext>
            </a:extLst>
          </p:cNvPr>
          <p:cNvSpPr txBox="1"/>
          <p:nvPr/>
        </p:nvSpPr>
        <p:spPr>
          <a:xfrm>
            <a:off x="841399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01. Hoàn thiện dữ liệu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C0D746-73D1-02E0-822C-AC7590D79878}"/>
              </a:ext>
            </a:extLst>
          </p:cNvPr>
          <p:cNvSpPr txBox="1"/>
          <p:nvPr/>
        </p:nvSpPr>
        <p:spPr>
          <a:xfrm>
            <a:off x="841399" y="1920240"/>
            <a:ext cx="3063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5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Sinh lưu lượng BENIGN · DDoS · Port Scan · Brute Force theo kịch bản doanh nghiệp.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5109AFC-EB04-8850-FA76-961AD47570C2}"/>
              </a:ext>
            </a:extLst>
          </p:cNvPr>
          <p:cNvSpPr/>
          <p:nvPr/>
        </p:nvSpPr>
        <p:spPr>
          <a:xfrm>
            <a:off x="4434992" y="13258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DFE23C-B0F1-3F26-AF25-1C5383E8013B}"/>
              </a:ext>
            </a:extLst>
          </p:cNvPr>
          <p:cNvSpPr/>
          <p:nvPr/>
        </p:nvSpPr>
        <p:spPr>
          <a:xfrm>
            <a:off x="4434992" y="1325880"/>
            <a:ext cx="73152" cy="1783080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E1EBAC-B44D-CE88-A3E4-F141096C4D7E}"/>
              </a:ext>
            </a:extLst>
          </p:cNvPr>
          <p:cNvSpPr txBox="1"/>
          <p:nvPr/>
        </p:nvSpPr>
        <p:spPr>
          <a:xfrm>
            <a:off x="4636160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02. Kiểm chứng dữ liệu Lab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96708A-0ACC-4078-AA94-7A0C7F6AA855}"/>
              </a:ext>
            </a:extLst>
          </p:cNvPr>
          <p:cNvSpPr txBox="1"/>
          <p:nvPr/>
        </p:nvSpPr>
        <p:spPr>
          <a:xfrm>
            <a:off x="4636160" y="1920240"/>
            <a:ext cx="3063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50">
                <a:solidFill>
                  <a:srgbClr val="242B36"/>
                </a:solidFill>
                <a:latin typeface="Aptos"/>
              </a:defRPr>
            </a:pPr>
            <a:r>
              <a:rPr sz="1600"/>
              <a:t>Đánh giá LightGBM và Random Forest trên lưu lượng Lab; triển khai Isolation Forest cho lớp bất thường chưa biết.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5ECD5C1-A15F-BE36-0983-524FDA44354B}"/>
              </a:ext>
            </a:extLst>
          </p:cNvPr>
          <p:cNvSpPr/>
          <p:nvPr/>
        </p:nvSpPr>
        <p:spPr>
          <a:xfrm>
            <a:off x="8229752" y="13258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2B7ED4-3659-49D2-C70E-A9381FD1F5D8}"/>
              </a:ext>
            </a:extLst>
          </p:cNvPr>
          <p:cNvSpPr/>
          <p:nvPr/>
        </p:nvSpPr>
        <p:spPr>
          <a:xfrm>
            <a:off x="8229752" y="1325880"/>
            <a:ext cx="73152" cy="1783080"/>
          </a:xfrm>
          <a:prstGeom prst="rect">
            <a:avLst/>
          </a:prstGeom>
          <a:solidFill>
            <a:srgbClr val="31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7872C-0641-F04D-F3E6-406AA82A0E43}"/>
              </a:ext>
            </a:extLst>
          </p:cNvPr>
          <p:cNvSpPr txBox="1"/>
          <p:nvPr/>
        </p:nvSpPr>
        <p:spPr>
          <a:xfrm>
            <a:off x="8430920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03. Hiệu chỉnh ngưỡng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C3A645-6191-41AC-415E-A34E3285A2A5}"/>
              </a:ext>
            </a:extLst>
          </p:cNvPr>
          <p:cNvSpPr txBox="1"/>
          <p:nvPr/>
        </p:nvSpPr>
        <p:spPr>
          <a:xfrm>
            <a:off x="8430920" y="1920240"/>
            <a:ext cx="3063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5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Hiệu chỉnh threshold với mục tiêu kiểm soát FPR ≤ 1%.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9C37BF2-8ED9-AA8D-7A45-9CF49B55EF5D}"/>
              </a:ext>
            </a:extLst>
          </p:cNvPr>
          <p:cNvSpPr/>
          <p:nvPr/>
        </p:nvSpPr>
        <p:spPr>
          <a:xfrm>
            <a:off x="640232" y="365760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DAD1CD-54E5-8E45-F537-F76095A27A7C}"/>
              </a:ext>
            </a:extLst>
          </p:cNvPr>
          <p:cNvSpPr/>
          <p:nvPr/>
        </p:nvSpPr>
        <p:spPr>
          <a:xfrm>
            <a:off x="640232" y="3657600"/>
            <a:ext cx="73152" cy="1783080"/>
          </a:xfrm>
          <a:prstGeom prst="rect">
            <a:avLst/>
          </a:prstGeom>
          <a:solidFill>
            <a:srgbClr val="C17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8219AE-5CBC-7485-0F88-605389902F42}"/>
              </a:ext>
            </a:extLst>
          </p:cNvPr>
          <p:cNvSpPr txBox="1"/>
          <p:nvPr/>
        </p:nvSpPr>
        <p:spPr>
          <a:xfrm>
            <a:off x="841399" y="3822191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04. Triển khai inference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3F147D-0DA3-DC2C-BE7B-D7D11F01DCFF}"/>
              </a:ext>
            </a:extLst>
          </p:cNvPr>
          <p:cNvSpPr txBox="1"/>
          <p:nvPr/>
        </p:nvSpPr>
        <p:spPr>
          <a:xfrm>
            <a:off x="841399" y="4251960"/>
            <a:ext cx="3063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5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Đóng gói mô hình được xác nhận và tích hợp FastAPI inference.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C0339EB-A476-DA82-8938-E7767ADBA7C2}"/>
              </a:ext>
            </a:extLst>
          </p:cNvPr>
          <p:cNvSpPr/>
          <p:nvPr/>
        </p:nvSpPr>
        <p:spPr>
          <a:xfrm>
            <a:off x="4434992" y="365760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F5F2D7-A7A9-F13F-4815-4FFF2DF46B73}"/>
              </a:ext>
            </a:extLst>
          </p:cNvPr>
          <p:cNvSpPr/>
          <p:nvPr/>
        </p:nvSpPr>
        <p:spPr>
          <a:xfrm>
            <a:off x="4434992" y="3657600"/>
            <a:ext cx="73152" cy="1783080"/>
          </a:xfrm>
          <a:prstGeom prst="rect">
            <a:avLst/>
          </a:prstGeom>
          <a:solidFill>
            <a:srgbClr val="AD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7C5AC9-4E3B-4304-19FA-0FD8D9A6F3A5}"/>
              </a:ext>
            </a:extLst>
          </p:cNvPr>
          <p:cNvSpPr txBox="1"/>
          <p:nvPr/>
        </p:nvSpPr>
        <p:spPr>
          <a:xfrm>
            <a:off x="4636160" y="3822191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05. Backend &amp; Dashboard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AC54A9-ADA7-7AA0-94CA-1C3331E4AA56}"/>
              </a:ext>
            </a:extLst>
          </p:cNvPr>
          <p:cNvSpPr txBox="1"/>
          <p:nvPr/>
        </p:nvSpPr>
        <p:spPr>
          <a:xfrm>
            <a:off x="4636160" y="4251960"/>
            <a:ext cx="3063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5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PostgreSQL · Event Correlation · React Dashboard · cảnh báo.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61323CF-4E24-6090-FC93-ABBA4EDC2317}"/>
              </a:ext>
            </a:extLst>
          </p:cNvPr>
          <p:cNvSpPr/>
          <p:nvPr/>
        </p:nvSpPr>
        <p:spPr>
          <a:xfrm>
            <a:off x="8229752" y="365760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D44236-5810-5335-E18D-1E0CC50D8D96}"/>
              </a:ext>
            </a:extLst>
          </p:cNvPr>
          <p:cNvSpPr/>
          <p:nvPr/>
        </p:nvSpPr>
        <p:spPr>
          <a:xfrm>
            <a:off x="8229752" y="3657600"/>
            <a:ext cx="73152" cy="1783080"/>
          </a:xfrm>
          <a:prstGeom prst="rect">
            <a:avLst/>
          </a:prstGeom>
          <a:solidFill>
            <a:srgbClr val="14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91E52E-3867-B27A-AB0B-1D3C32426D48}"/>
              </a:ext>
            </a:extLst>
          </p:cNvPr>
          <p:cNvSpPr txBox="1"/>
          <p:nvPr/>
        </p:nvSpPr>
        <p:spPr>
          <a:xfrm>
            <a:off x="8430920" y="3822191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>
                <a:solidFill>
                  <a:srgbClr val="142749"/>
                </a:solidFill>
                <a:latin typeface="Aptos"/>
              </a:rPr>
              <a:t>06. Tích hợp &amp; kiểm thử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68E4C7-1974-3366-1123-EE0530EC3914}"/>
              </a:ext>
            </a:extLst>
          </p:cNvPr>
          <p:cNvSpPr txBox="1"/>
          <p:nvPr/>
        </p:nvSpPr>
        <p:spPr>
          <a:xfrm>
            <a:off x="8430920" y="4251960"/>
            <a:ext cx="3063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5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Traffic → Flow → ML → Event → Alert → Dashboard; đo latency và throughput.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15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10983558" y="158451"/>
            <a:ext cx="1016147" cy="6381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2" name="Google Shape;552;p15"/>
          <p:cNvCxnSpPr/>
          <p:nvPr/>
        </p:nvCxnSpPr>
        <p:spPr>
          <a:xfrm>
            <a:off x="0" y="839624"/>
            <a:ext cx="10800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553" name="Google Shape;553;p15"/>
          <p:cNvSpPr txBox="1"/>
          <p:nvPr/>
        </p:nvSpPr>
        <p:spPr>
          <a:xfrm>
            <a:off x="350875" y="1022900"/>
            <a:ext cx="11067900" cy="62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5"/>
          <p:cNvSpPr txBox="1"/>
          <p:nvPr/>
        </p:nvSpPr>
        <p:spPr>
          <a:xfrm>
            <a:off x="8216750" y="3554925"/>
            <a:ext cx="101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5"/>
          <p:cNvSpPr txBox="1"/>
          <p:nvPr/>
        </p:nvSpPr>
        <p:spPr>
          <a:xfrm>
            <a:off x="11237934" y="6481425"/>
            <a:ext cx="83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dirty="0"/>
          </a:p>
        </p:txBody>
      </p:sp>
      <p:sp>
        <p:nvSpPr>
          <p:cNvPr id="557" name="Google Shape;557;p15"/>
          <p:cNvSpPr txBox="1"/>
          <p:nvPr/>
        </p:nvSpPr>
        <p:spPr>
          <a:xfrm>
            <a:off x="765315" y="211063"/>
            <a:ext cx="9126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vi-VN" sz="2400" b="1" dirty="0">
                <a:solidFill>
                  <a:srgbClr val="5F74BE"/>
                </a:solidFill>
              </a:rPr>
              <a:t>13. Kết quả xử lý dữ liệu</a:t>
            </a:r>
            <a:endParaRPr sz="2400" b="0" i="0" u="none" strike="noStrike" cap="none" dirty="0">
              <a:solidFill>
                <a:srgbClr val="5F74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5"/>
          <p:cNvSpPr txBox="1"/>
          <p:nvPr/>
        </p:nvSpPr>
        <p:spPr>
          <a:xfrm>
            <a:off x="615949" y="6478270"/>
            <a:ext cx="14193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dirty="0">
                <a:solidFill>
                  <a:schemeClr val="dk1"/>
                </a:solidFill>
              </a:rPr>
              <a:t>03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5C1CDF-EB0B-EEC3-0A31-61976A2AEE5A}"/>
              </a:ext>
            </a:extLst>
          </p:cNvPr>
          <p:cNvSpPr/>
          <p:nvPr/>
        </p:nvSpPr>
        <p:spPr>
          <a:xfrm>
            <a:off x="152" y="0"/>
            <a:ext cx="12191695" cy="109728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529BB-D693-09E3-FEC3-1C9303F9F23E}"/>
              </a:ext>
            </a:extLst>
          </p:cNvPr>
          <p:cNvSpPr txBox="1"/>
          <p:nvPr/>
        </p:nvSpPr>
        <p:spPr>
          <a:xfrm>
            <a:off x="612800" y="841248"/>
            <a:ext cx="31435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dirty="0" err="1">
                <a:solidFill>
                  <a:srgbClr val="5C6674"/>
                </a:solidFill>
                <a:latin typeface="Aptos"/>
              </a:rPr>
              <a:t>Dữ liệu hợp nhất sẵn sàng cho huấn luyện và đánh giá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866611-9D96-8F47-51E8-C0ACDAF7F8B5}"/>
              </a:ext>
            </a:extLst>
          </p:cNvPr>
          <p:cNvSpPr txBox="1"/>
          <p:nvPr/>
        </p:nvSpPr>
        <p:spPr>
          <a:xfrm>
            <a:off x="11384432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>
                <a:solidFill>
                  <a:srgbClr val="5C6674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3FF973-8F0E-12AF-9EE3-D03FE8B2E6CC}"/>
              </a:ext>
            </a:extLst>
          </p:cNvPr>
          <p:cNvSpPr/>
          <p:nvPr/>
        </p:nvSpPr>
        <p:spPr>
          <a:xfrm>
            <a:off x="640232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B201B2-E323-5120-F09C-89BF3B3A6830}"/>
              </a:ext>
            </a:extLst>
          </p:cNvPr>
          <p:cNvSpPr/>
          <p:nvPr/>
        </p:nvSpPr>
        <p:spPr>
          <a:xfrm>
            <a:off x="640232" y="1325880"/>
            <a:ext cx="73152" cy="1645920"/>
          </a:xfrm>
          <a:prstGeom prst="rect">
            <a:avLst/>
          </a:prstGeom>
          <a:solidFill>
            <a:srgbClr val="2B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15CF02-F25A-2EBA-F20A-3E2C4E424E3D}"/>
              </a:ext>
            </a:extLst>
          </p:cNvPr>
          <p:cNvSpPr txBox="1"/>
          <p:nvPr/>
        </p:nvSpPr>
        <p:spPr>
          <a:xfrm>
            <a:off x="841399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Nguồn dữ liệu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B57971-7C92-54CF-3C39-E32860403F8B}"/>
              </a:ext>
            </a:extLst>
          </p:cNvPr>
          <p:cNvSpPr txBox="1"/>
          <p:nvPr/>
        </p:nvSpPr>
        <p:spPr>
          <a:xfrm>
            <a:off x="841399" y="192024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CICIDS2017 + CSE-CIC-IDS2018 + CIC-DDoS2019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6DEFC14-7B43-F2C3-006E-8D32F7984FF9}"/>
              </a:ext>
            </a:extLst>
          </p:cNvPr>
          <p:cNvSpPr/>
          <p:nvPr/>
        </p:nvSpPr>
        <p:spPr>
          <a:xfrm>
            <a:off x="4434992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1286C6-026F-2D51-1326-4A81D9D3F0FF}"/>
              </a:ext>
            </a:extLst>
          </p:cNvPr>
          <p:cNvSpPr/>
          <p:nvPr/>
        </p:nvSpPr>
        <p:spPr>
          <a:xfrm>
            <a:off x="4434992" y="1325880"/>
            <a:ext cx="73152" cy="1645920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A1D547-D3FC-37E9-3499-7C9B48612B14}"/>
              </a:ext>
            </a:extLst>
          </p:cNvPr>
          <p:cNvSpPr txBox="1"/>
          <p:nvPr/>
        </p:nvSpPr>
        <p:spPr>
          <a:xfrm>
            <a:off x="4636160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Quy mô sau xử lý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9B287E-D924-374D-0E58-6FF42BB81532}"/>
              </a:ext>
            </a:extLst>
          </p:cNvPr>
          <p:cNvSpPr txBox="1"/>
          <p:nvPr/>
        </p:nvSpPr>
        <p:spPr>
          <a:xfrm>
            <a:off x="4636160" y="192024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2.606.915 luồng · Train 2.084.979 · Test 521.936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7755C47-98B4-5519-C341-5AF0FF0A054E}"/>
              </a:ext>
            </a:extLst>
          </p:cNvPr>
          <p:cNvSpPr/>
          <p:nvPr/>
        </p:nvSpPr>
        <p:spPr>
          <a:xfrm>
            <a:off x="8229752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8F3686-1030-50FD-D0BA-B27AECC2774D}"/>
              </a:ext>
            </a:extLst>
          </p:cNvPr>
          <p:cNvSpPr/>
          <p:nvPr/>
        </p:nvSpPr>
        <p:spPr>
          <a:xfrm>
            <a:off x="8229752" y="1325880"/>
            <a:ext cx="73152" cy="1645920"/>
          </a:xfrm>
          <a:prstGeom prst="rect">
            <a:avLst/>
          </a:prstGeom>
          <a:solidFill>
            <a:srgbClr val="31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760E07-13C0-4799-8EF6-5D0EDC0F5AD1}"/>
              </a:ext>
            </a:extLst>
          </p:cNvPr>
          <p:cNvSpPr txBox="1"/>
          <p:nvPr/>
        </p:nvSpPr>
        <p:spPr>
          <a:xfrm>
            <a:off x="8430920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Không gian đặc trưng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26D7F4-9A8E-A33F-725C-B2B4B496B19F}"/>
              </a:ext>
            </a:extLst>
          </p:cNvPr>
          <p:cNvSpPr txBox="1"/>
          <p:nvPr/>
        </p:nvSpPr>
        <p:spPr>
          <a:xfrm>
            <a:off x="8430920" y="192024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56 đặc trưng F_NOOS dùng thống nhất cho bốn mô hình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19F4F41-36BC-6C71-B29C-E2378522BD77}"/>
              </a:ext>
            </a:extLst>
          </p:cNvPr>
          <p:cNvSpPr/>
          <p:nvPr/>
        </p:nvSpPr>
        <p:spPr>
          <a:xfrm>
            <a:off x="2469032" y="37947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C7CA94-9546-95E0-96FF-055AC16C57BE}"/>
              </a:ext>
            </a:extLst>
          </p:cNvPr>
          <p:cNvSpPr/>
          <p:nvPr/>
        </p:nvSpPr>
        <p:spPr>
          <a:xfrm>
            <a:off x="2469032" y="3794760"/>
            <a:ext cx="73152" cy="1645920"/>
          </a:xfrm>
          <a:prstGeom prst="rect">
            <a:avLst/>
          </a:prstGeom>
          <a:solidFill>
            <a:srgbClr val="C17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944B93-4506-4AD3-9F8F-C70662431367}"/>
              </a:ext>
            </a:extLst>
          </p:cNvPr>
          <p:cNvSpPr txBox="1"/>
          <p:nvPr/>
        </p:nvSpPr>
        <p:spPr>
          <a:xfrm>
            <a:off x="2670200" y="395935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Nhãn thống nhất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46CECA-1397-A15D-DAEB-C5F75C73F9E5}"/>
              </a:ext>
            </a:extLst>
          </p:cNvPr>
          <p:cNvSpPr txBox="1"/>
          <p:nvPr/>
        </p:nvSpPr>
        <p:spPr>
          <a:xfrm>
            <a:off x="2670200" y="438912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BENIGN · DoS/DDoS · PortScan · BruteForce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F6C1CFA-498B-E682-3454-771EF646E2C6}"/>
              </a:ext>
            </a:extLst>
          </p:cNvPr>
          <p:cNvSpPr/>
          <p:nvPr/>
        </p:nvSpPr>
        <p:spPr>
          <a:xfrm>
            <a:off x="6263792" y="37947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8C6165-1714-8164-8D01-55D2986D7384}"/>
              </a:ext>
            </a:extLst>
          </p:cNvPr>
          <p:cNvSpPr/>
          <p:nvPr/>
        </p:nvSpPr>
        <p:spPr>
          <a:xfrm>
            <a:off x="6263792" y="3794760"/>
            <a:ext cx="73152" cy="1645920"/>
          </a:xfrm>
          <a:prstGeom prst="rect">
            <a:avLst/>
          </a:prstGeom>
          <a:solidFill>
            <a:srgbClr val="14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067D92-2E7B-BDF1-2D20-444525A74B07}"/>
              </a:ext>
            </a:extLst>
          </p:cNvPr>
          <p:cNvSpPr txBox="1"/>
          <p:nvPr/>
        </p:nvSpPr>
        <p:spPr>
          <a:xfrm>
            <a:off x="6464960" y="395935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Chống rò rỉ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6C779F-D4C1-0FE1-DC17-B9C5CE2B06F5}"/>
              </a:ext>
            </a:extLst>
          </p:cNvPr>
          <p:cNvSpPr txBox="1"/>
          <p:nvPr/>
        </p:nvSpPr>
        <p:spPr>
          <a:xfrm>
            <a:off x="6464960" y="438912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Loại IP · Flow ID · Timestamp; gộp vector trùng trước khi chia fold.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15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10983558" y="158451"/>
            <a:ext cx="1016147" cy="6381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2" name="Google Shape;552;p15"/>
          <p:cNvCxnSpPr/>
          <p:nvPr/>
        </p:nvCxnSpPr>
        <p:spPr>
          <a:xfrm>
            <a:off x="0" y="839624"/>
            <a:ext cx="10800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553" name="Google Shape;553;p15"/>
          <p:cNvSpPr txBox="1"/>
          <p:nvPr/>
        </p:nvSpPr>
        <p:spPr>
          <a:xfrm>
            <a:off x="350875" y="1022900"/>
            <a:ext cx="11067900" cy="62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5"/>
          <p:cNvSpPr txBox="1"/>
          <p:nvPr/>
        </p:nvSpPr>
        <p:spPr>
          <a:xfrm>
            <a:off x="8216750" y="3554925"/>
            <a:ext cx="101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5"/>
          <p:cNvSpPr txBox="1"/>
          <p:nvPr/>
        </p:nvSpPr>
        <p:spPr>
          <a:xfrm>
            <a:off x="11237934" y="6481425"/>
            <a:ext cx="83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dirty="0"/>
          </a:p>
        </p:txBody>
      </p:sp>
      <p:sp>
        <p:nvSpPr>
          <p:cNvPr id="557" name="Google Shape;557;p15"/>
          <p:cNvSpPr txBox="1"/>
          <p:nvPr/>
        </p:nvSpPr>
        <p:spPr>
          <a:xfrm>
            <a:off x="765315" y="211063"/>
            <a:ext cx="9126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vi-VN" sz="2400" b="1" dirty="0">
                <a:solidFill>
                  <a:srgbClr val="5F74BE"/>
                </a:solidFill>
              </a:rPr>
              <a:t>14. Kết quả thực nghiệm – Kịch bản A</a:t>
            </a:r>
            <a:endParaRPr sz="2400" b="0" i="0" u="none" strike="noStrike" cap="none" dirty="0">
              <a:solidFill>
                <a:srgbClr val="5F74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5"/>
          <p:cNvSpPr txBox="1"/>
          <p:nvPr/>
        </p:nvSpPr>
        <p:spPr>
          <a:xfrm>
            <a:off x="615949" y="6478270"/>
            <a:ext cx="14193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dirty="0">
                <a:solidFill>
                  <a:schemeClr val="dk1"/>
                </a:solidFill>
              </a:rPr>
              <a:t>03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5C1CDF-EB0B-EEC3-0A31-61976A2AEE5A}"/>
              </a:ext>
            </a:extLst>
          </p:cNvPr>
          <p:cNvSpPr/>
          <p:nvPr/>
        </p:nvSpPr>
        <p:spPr>
          <a:xfrm>
            <a:off x="152" y="0"/>
            <a:ext cx="12191695" cy="109728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529BB-D693-09E3-FEC3-1C9303F9F23E}"/>
              </a:ext>
            </a:extLst>
          </p:cNvPr>
          <p:cNvSpPr txBox="1"/>
          <p:nvPr/>
        </p:nvSpPr>
        <p:spPr>
          <a:xfrm>
            <a:off x="612800" y="841248"/>
            <a:ext cx="31435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dirty="0" err="1">
                <a:solidFill>
                  <a:srgbClr val="5C6674"/>
                </a:solidFill>
                <a:latin typeface="Aptos"/>
              </a:rPr>
              <a:t>Cùng phân phối – đánh giá trên 521.936 luồng kiểm tra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866611-9D96-8F47-51E8-C0ACDAF7F8B5}"/>
              </a:ext>
            </a:extLst>
          </p:cNvPr>
          <p:cNvSpPr txBox="1"/>
          <p:nvPr/>
        </p:nvSpPr>
        <p:spPr>
          <a:xfrm>
            <a:off x="11384432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 dirty="0">
                <a:solidFill>
                  <a:srgbClr val="5C6674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3FF973-8F0E-12AF-9EE3-D03FE8B2E6CC}"/>
              </a:ext>
            </a:extLst>
          </p:cNvPr>
          <p:cNvSpPr/>
          <p:nvPr/>
        </p:nvSpPr>
        <p:spPr>
          <a:xfrm>
            <a:off x="640232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B201B2-E323-5120-F09C-89BF3B3A6830}"/>
              </a:ext>
            </a:extLst>
          </p:cNvPr>
          <p:cNvSpPr/>
          <p:nvPr/>
        </p:nvSpPr>
        <p:spPr>
          <a:xfrm>
            <a:off x="640232" y="1325880"/>
            <a:ext cx="73152" cy="1645920"/>
          </a:xfrm>
          <a:prstGeom prst="rect">
            <a:avLst/>
          </a:prstGeom>
          <a:solidFill>
            <a:srgbClr val="2B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15CF02-F25A-2EBA-F20A-3E2C4E424E3D}"/>
              </a:ext>
            </a:extLst>
          </p:cNvPr>
          <p:cNvSpPr txBox="1"/>
          <p:nvPr/>
        </p:nvSpPr>
        <p:spPr>
          <a:xfrm>
            <a:off x="841399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Random Forest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B57971-7C92-54CF-3C39-E32860403F8B}"/>
              </a:ext>
            </a:extLst>
          </p:cNvPr>
          <p:cNvSpPr txBox="1"/>
          <p:nvPr/>
        </p:nvSpPr>
        <p:spPr>
          <a:xfrm>
            <a:off x="841399" y="192024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Macro-F1 0,9982 · FP 69 · FN 54 · Detection 99,944%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6DEFC14-7B43-F2C3-006E-8D32F7984FF9}"/>
              </a:ext>
            </a:extLst>
          </p:cNvPr>
          <p:cNvSpPr/>
          <p:nvPr/>
        </p:nvSpPr>
        <p:spPr>
          <a:xfrm>
            <a:off x="4434992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1286C6-026F-2D51-1326-4A81D9D3F0FF}"/>
              </a:ext>
            </a:extLst>
          </p:cNvPr>
          <p:cNvSpPr/>
          <p:nvPr/>
        </p:nvSpPr>
        <p:spPr>
          <a:xfrm>
            <a:off x="4434992" y="1325880"/>
            <a:ext cx="73152" cy="1645920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A1D547-D3FC-37E9-3499-7C9B48612B14}"/>
              </a:ext>
            </a:extLst>
          </p:cNvPr>
          <p:cNvSpPr txBox="1"/>
          <p:nvPr/>
        </p:nvSpPr>
        <p:spPr>
          <a:xfrm>
            <a:off x="4636160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XGBoost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9B287E-D924-374D-0E58-6FF42BB81532}"/>
              </a:ext>
            </a:extLst>
          </p:cNvPr>
          <p:cNvSpPr txBox="1"/>
          <p:nvPr/>
        </p:nvSpPr>
        <p:spPr>
          <a:xfrm>
            <a:off x="4636160" y="192024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Macro-F1 0,9985 · FP 31 · FN 67 · Detection 99,930%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7755C47-98B4-5519-C341-5AF0FF0A054E}"/>
              </a:ext>
            </a:extLst>
          </p:cNvPr>
          <p:cNvSpPr/>
          <p:nvPr/>
        </p:nvSpPr>
        <p:spPr>
          <a:xfrm>
            <a:off x="8229752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8F3686-1030-50FD-D0BA-B27AECC2774D}"/>
              </a:ext>
            </a:extLst>
          </p:cNvPr>
          <p:cNvSpPr/>
          <p:nvPr/>
        </p:nvSpPr>
        <p:spPr>
          <a:xfrm>
            <a:off x="8229752" y="1325880"/>
            <a:ext cx="73152" cy="1645920"/>
          </a:xfrm>
          <a:prstGeom prst="rect">
            <a:avLst/>
          </a:prstGeom>
          <a:solidFill>
            <a:srgbClr val="31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760E07-13C0-4799-8EF6-5D0EDC0F5AD1}"/>
              </a:ext>
            </a:extLst>
          </p:cNvPr>
          <p:cNvSpPr txBox="1"/>
          <p:nvPr/>
        </p:nvSpPr>
        <p:spPr>
          <a:xfrm>
            <a:off x="8430920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LightGBM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26D7F4-9A8E-A33F-725C-B2B4B496B19F}"/>
              </a:ext>
            </a:extLst>
          </p:cNvPr>
          <p:cNvSpPr txBox="1"/>
          <p:nvPr/>
        </p:nvSpPr>
        <p:spPr>
          <a:xfrm>
            <a:off x="8430920" y="192024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Macro-F1 0,9988 · FP 58 · FN 47 · Detection 99,951%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19F4F41-36BC-6C71-B29C-E2378522BD77}"/>
              </a:ext>
            </a:extLst>
          </p:cNvPr>
          <p:cNvSpPr/>
          <p:nvPr/>
        </p:nvSpPr>
        <p:spPr>
          <a:xfrm>
            <a:off x="2469032" y="37947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C7CA94-9546-95E0-96FF-055AC16C57BE}"/>
              </a:ext>
            </a:extLst>
          </p:cNvPr>
          <p:cNvSpPr/>
          <p:nvPr/>
        </p:nvSpPr>
        <p:spPr>
          <a:xfrm>
            <a:off x="2469032" y="3794760"/>
            <a:ext cx="73152" cy="1645920"/>
          </a:xfrm>
          <a:prstGeom prst="rect">
            <a:avLst/>
          </a:prstGeom>
          <a:solidFill>
            <a:srgbClr val="C17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944B93-4506-4AD3-9F8F-C70662431367}"/>
              </a:ext>
            </a:extLst>
          </p:cNvPr>
          <p:cNvSpPr txBox="1"/>
          <p:nvPr/>
        </p:nvSpPr>
        <p:spPr>
          <a:xfrm>
            <a:off x="2670200" y="395935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MLP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46CECA-1397-A15D-DAEB-C5F75C73F9E5}"/>
              </a:ext>
            </a:extLst>
          </p:cNvPr>
          <p:cNvSpPr txBox="1"/>
          <p:nvPr/>
        </p:nvSpPr>
        <p:spPr>
          <a:xfrm>
            <a:off x="2670200" y="438912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Macro-F1 0,9969 · FP 82 · FN 172 · Detection 99,821%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F6C1CFA-498B-E682-3454-771EF646E2C6}"/>
              </a:ext>
            </a:extLst>
          </p:cNvPr>
          <p:cNvSpPr/>
          <p:nvPr/>
        </p:nvSpPr>
        <p:spPr>
          <a:xfrm>
            <a:off x="6263792" y="37947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8C6165-1714-8164-8D01-55D2986D7384}"/>
              </a:ext>
            </a:extLst>
          </p:cNvPr>
          <p:cNvSpPr/>
          <p:nvPr/>
        </p:nvSpPr>
        <p:spPr>
          <a:xfrm>
            <a:off x="6263792" y="3794760"/>
            <a:ext cx="73152" cy="1645920"/>
          </a:xfrm>
          <a:prstGeom prst="rect">
            <a:avLst/>
          </a:prstGeom>
          <a:solidFill>
            <a:srgbClr val="14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067D92-2E7B-BDF1-2D20-444525A74B07}"/>
              </a:ext>
            </a:extLst>
          </p:cNvPr>
          <p:cNvSpPr txBox="1"/>
          <p:nvPr/>
        </p:nvSpPr>
        <p:spPr>
          <a:xfrm>
            <a:off x="6464960" y="395935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Nhận xét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6C779F-D4C1-0FE1-DC17-B9C5CE2B06F5}"/>
              </a:ext>
            </a:extLst>
          </p:cNvPr>
          <p:cNvSpPr txBox="1"/>
          <p:nvPr/>
        </p:nvSpPr>
        <p:spPr>
          <a:xfrm>
            <a:off x="6464960" y="438912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Ba mô hình cây gần tương đương; LightGBM có macro-F1 cao nhất và bỏ sót ít nhất.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15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10983558" y="158451"/>
            <a:ext cx="1016147" cy="6381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2" name="Google Shape;552;p15"/>
          <p:cNvCxnSpPr/>
          <p:nvPr/>
        </p:nvCxnSpPr>
        <p:spPr>
          <a:xfrm>
            <a:off x="0" y="839624"/>
            <a:ext cx="10800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553" name="Google Shape;553;p15"/>
          <p:cNvSpPr txBox="1"/>
          <p:nvPr/>
        </p:nvSpPr>
        <p:spPr>
          <a:xfrm>
            <a:off x="350875" y="1022900"/>
            <a:ext cx="11067900" cy="62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5"/>
          <p:cNvSpPr txBox="1"/>
          <p:nvPr/>
        </p:nvSpPr>
        <p:spPr>
          <a:xfrm>
            <a:off x="8216750" y="3554925"/>
            <a:ext cx="101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5"/>
          <p:cNvSpPr txBox="1"/>
          <p:nvPr/>
        </p:nvSpPr>
        <p:spPr>
          <a:xfrm>
            <a:off x="11237934" y="6481425"/>
            <a:ext cx="83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dirty="0"/>
          </a:p>
        </p:txBody>
      </p:sp>
      <p:sp>
        <p:nvSpPr>
          <p:cNvPr id="557" name="Google Shape;557;p15"/>
          <p:cNvSpPr txBox="1"/>
          <p:nvPr/>
        </p:nvSpPr>
        <p:spPr>
          <a:xfrm>
            <a:off x="765315" y="211063"/>
            <a:ext cx="9126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vi-VN" sz="2400" b="1" dirty="0">
                <a:solidFill>
                  <a:srgbClr val="5F74BE"/>
                </a:solidFill>
              </a:rPr>
              <a:t>15. Khả năng tổng quát hóa – Kịch bản B</a:t>
            </a:r>
            <a:endParaRPr sz="2400" b="0" i="0" u="none" strike="noStrike" cap="none" dirty="0">
              <a:solidFill>
                <a:srgbClr val="5F74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5"/>
          <p:cNvSpPr txBox="1"/>
          <p:nvPr/>
        </p:nvSpPr>
        <p:spPr>
          <a:xfrm>
            <a:off x="615949" y="6478270"/>
            <a:ext cx="14193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dirty="0">
                <a:solidFill>
                  <a:schemeClr val="dk1"/>
                </a:solidFill>
              </a:rPr>
              <a:t>03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5C1CDF-EB0B-EEC3-0A31-61976A2AEE5A}"/>
              </a:ext>
            </a:extLst>
          </p:cNvPr>
          <p:cNvSpPr/>
          <p:nvPr/>
        </p:nvSpPr>
        <p:spPr>
          <a:xfrm>
            <a:off x="152" y="0"/>
            <a:ext cx="12191695" cy="109728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529BB-D693-09E3-FEC3-1C9303F9F23E}"/>
              </a:ext>
            </a:extLst>
          </p:cNvPr>
          <p:cNvSpPr txBox="1"/>
          <p:nvPr/>
        </p:nvSpPr>
        <p:spPr>
          <a:xfrm>
            <a:off x="612800" y="841248"/>
            <a:ext cx="31435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dirty="0" err="1">
                <a:solidFill>
                  <a:srgbClr val="5C6674"/>
                </a:solidFill>
                <a:latin typeface="Aptos"/>
              </a:rPr>
              <a:t>Train trên hai bộ dữ liệu – kiểm tra trên bộ dữ liệu còn lại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866611-9D96-8F47-51E8-C0ACDAF7F8B5}"/>
              </a:ext>
            </a:extLst>
          </p:cNvPr>
          <p:cNvSpPr txBox="1"/>
          <p:nvPr/>
        </p:nvSpPr>
        <p:spPr>
          <a:xfrm>
            <a:off x="11384432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>
                <a:solidFill>
                  <a:srgbClr val="5C6674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3FF973-8F0E-12AF-9EE3-D03FE8B2E6CC}"/>
              </a:ext>
            </a:extLst>
          </p:cNvPr>
          <p:cNvSpPr/>
          <p:nvPr/>
        </p:nvSpPr>
        <p:spPr>
          <a:xfrm>
            <a:off x="640232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B201B2-E323-5120-F09C-89BF3B3A6830}"/>
              </a:ext>
            </a:extLst>
          </p:cNvPr>
          <p:cNvSpPr/>
          <p:nvPr/>
        </p:nvSpPr>
        <p:spPr>
          <a:xfrm>
            <a:off x="640232" y="1325880"/>
            <a:ext cx="73152" cy="1645920"/>
          </a:xfrm>
          <a:prstGeom prst="rect">
            <a:avLst/>
          </a:prstGeom>
          <a:solidFill>
            <a:srgbClr val="2B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15CF02-F25A-2EBA-F20A-3E2C4E424E3D}"/>
              </a:ext>
            </a:extLst>
          </p:cNvPr>
          <p:cNvSpPr txBox="1"/>
          <p:nvPr/>
        </p:nvSpPr>
        <p:spPr>
          <a:xfrm>
            <a:off x="841399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Random Forest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B57971-7C92-54CF-3C39-E32860403F8B}"/>
              </a:ext>
            </a:extLst>
          </p:cNvPr>
          <p:cNvSpPr txBox="1"/>
          <p:nvPr/>
        </p:nvSpPr>
        <p:spPr>
          <a:xfrm>
            <a:off x="841399" y="192024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AUC trung bình 0,86 · Detection trung bình 5,3%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6DEFC14-7B43-F2C3-006E-8D32F7984FF9}"/>
              </a:ext>
            </a:extLst>
          </p:cNvPr>
          <p:cNvSpPr/>
          <p:nvPr/>
        </p:nvSpPr>
        <p:spPr>
          <a:xfrm>
            <a:off x="4434992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1286C6-026F-2D51-1326-4A81D9D3F0FF}"/>
              </a:ext>
            </a:extLst>
          </p:cNvPr>
          <p:cNvSpPr/>
          <p:nvPr/>
        </p:nvSpPr>
        <p:spPr>
          <a:xfrm>
            <a:off x="4434992" y="1325880"/>
            <a:ext cx="73152" cy="1645920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A1D547-D3FC-37E9-3499-7C9B48612B14}"/>
              </a:ext>
            </a:extLst>
          </p:cNvPr>
          <p:cNvSpPr txBox="1"/>
          <p:nvPr/>
        </p:nvSpPr>
        <p:spPr>
          <a:xfrm>
            <a:off x="4636160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LightGBM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9B287E-D924-374D-0E58-6FF42BB81532}"/>
              </a:ext>
            </a:extLst>
          </p:cNvPr>
          <p:cNvSpPr txBox="1"/>
          <p:nvPr/>
        </p:nvSpPr>
        <p:spPr>
          <a:xfrm>
            <a:off x="4636160" y="192024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AUC trung bình 0,80 · Detection trung bình 4,7%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7755C47-98B4-5519-C341-5AF0FF0A054E}"/>
              </a:ext>
            </a:extLst>
          </p:cNvPr>
          <p:cNvSpPr/>
          <p:nvPr/>
        </p:nvSpPr>
        <p:spPr>
          <a:xfrm>
            <a:off x="8229752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8F3686-1030-50FD-D0BA-B27AECC2774D}"/>
              </a:ext>
            </a:extLst>
          </p:cNvPr>
          <p:cNvSpPr/>
          <p:nvPr/>
        </p:nvSpPr>
        <p:spPr>
          <a:xfrm>
            <a:off x="8229752" y="1325880"/>
            <a:ext cx="73152" cy="1645920"/>
          </a:xfrm>
          <a:prstGeom prst="rect">
            <a:avLst/>
          </a:prstGeom>
          <a:solidFill>
            <a:srgbClr val="31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760E07-13C0-4799-8EF6-5D0EDC0F5AD1}"/>
              </a:ext>
            </a:extLst>
          </p:cNvPr>
          <p:cNvSpPr txBox="1"/>
          <p:nvPr/>
        </p:nvSpPr>
        <p:spPr>
          <a:xfrm>
            <a:off x="8430920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XGBoost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26D7F4-9A8E-A33F-725C-B2B4B496B19F}"/>
              </a:ext>
            </a:extLst>
          </p:cNvPr>
          <p:cNvSpPr txBox="1"/>
          <p:nvPr/>
        </p:nvSpPr>
        <p:spPr>
          <a:xfrm>
            <a:off x="8430920" y="192024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/>
              <a:t>AUC trung bình 0,74 · Detection trung bình 4,5%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19F4F41-36BC-6C71-B29C-E2378522BD77}"/>
              </a:ext>
            </a:extLst>
          </p:cNvPr>
          <p:cNvSpPr/>
          <p:nvPr/>
        </p:nvSpPr>
        <p:spPr>
          <a:xfrm>
            <a:off x="2469032" y="37947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C7CA94-9546-95E0-96FF-055AC16C57BE}"/>
              </a:ext>
            </a:extLst>
          </p:cNvPr>
          <p:cNvSpPr/>
          <p:nvPr/>
        </p:nvSpPr>
        <p:spPr>
          <a:xfrm>
            <a:off x="2469032" y="3794760"/>
            <a:ext cx="73152" cy="1645920"/>
          </a:xfrm>
          <a:prstGeom prst="rect">
            <a:avLst/>
          </a:prstGeom>
          <a:solidFill>
            <a:srgbClr val="C17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944B93-4506-4AD3-9F8F-C70662431367}"/>
              </a:ext>
            </a:extLst>
          </p:cNvPr>
          <p:cNvSpPr txBox="1"/>
          <p:nvPr/>
        </p:nvSpPr>
        <p:spPr>
          <a:xfrm>
            <a:off x="2670200" y="395935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MLP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46CECA-1397-A15D-DAEB-C5F75C73F9E5}"/>
              </a:ext>
            </a:extLst>
          </p:cNvPr>
          <p:cNvSpPr txBox="1"/>
          <p:nvPr/>
        </p:nvSpPr>
        <p:spPr>
          <a:xfrm>
            <a:off x="2670200" y="438912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/>
              <a:t>AUC trung bình 0,47 · Detection trung bình 4,1%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F6C1CFA-498B-E682-3454-771EF646E2C6}"/>
              </a:ext>
            </a:extLst>
          </p:cNvPr>
          <p:cNvSpPr/>
          <p:nvPr/>
        </p:nvSpPr>
        <p:spPr>
          <a:xfrm>
            <a:off x="6263792" y="37947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8C6165-1714-8164-8D01-55D2986D7384}"/>
              </a:ext>
            </a:extLst>
          </p:cNvPr>
          <p:cNvSpPr/>
          <p:nvPr/>
        </p:nvSpPr>
        <p:spPr>
          <a:xfrm>
            <a:off x="6263792" y="3794760"/>
            <a:ext cx="73152" cy="1645920"/>
          </a:xfrm>
          <a:prstGeom prst="rect">
            <a:avLst/>
          </a:prstGeom>
          <a:solidFill>
            <a:srgbClr val="14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067D92-2E7B-BDF1-2D20-444525A74B07}"/>
              </a:ext>
            </a:extLst>
          </p:cNvPr>
          <p:cNvSpPr txBox="1"/>
          <p:nvPr/>
        </p:nvSpPr>
        <p:spPr>
          <a:xfrm>
            <a:off x="6458560" y="3822005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 dirty="0" err="1">
                <a:solidFill>
                  <a:srgbClr val="142749"/>
                </a:solidFill>
                <a:latin typeface="Aptos"/>
              </a:rPr>
              <a:t>Kết</a:t>
            </a:r>
            <a:r>
              <a:rPr sz="1600" b="1" dirty="0">
                <a:solidFill>
                  <a:srgbClr val="14274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142749"/>
                </a:solidFill>
                <a:latin typeface="Aptos"/>
              </a:rPr>
              <a:t>luận</a:t>
            </a:r>
            <a:endParaRPr sz="1600" b="1" dirty="0">
              <a:solidFill>
                <a:srgbClr val="142749"/>
              </a:solidFill>
              <a:latin typeface="Apto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6C779F-D4C1-0FE1-DC17-B9C5CE2B06F5}"/>
              </a:ext>
            </a:extLst>
          </p:cNvPr>
          <p:cNvSpPr txBox="1"/>
          <p:nvPr/>
        </p:nvSpPr>
        <p:spPr>
          <a:xfrm>
            <a:off x="6458560" y="4135184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 dirty="0"/>
              <a:t>Dataset shift </a:t>
            </a:r>
            <a:r>
              <a:rPr sz="1600" dirty="0" err="1"/>
              <a:t>làm</a:t>
            </a:r>
            <a:r>
              <a:rPr sz="1600" dirty="0"/>
              <a:t> </a:t>
            </a:r>
            <a:r>
              <a:rPr sz="1600" dirty="0" err="1"/>
              <a:t>hiệu</a:t>
            </a:r>
            <a:r>
              <a:rPr sz="1600" dirty="0"/>
              <a:t> </a:t>
            </a:r>
            <a:r>
              <a:rPr sz="1600" dirty="0" err="1"/>
              <a:t>năng</a:t>
            </a:r>
            <a:r>
              <a:rPr sz="1600" dirty="0"/>
              <a:t> </a:t>
            </a:r>
            <a:r>
              <a:rPr sz="1600" dirty="0" err="1"/>
              <a:t>giảm</a:t>
            </a:r>
            <a:r>
              <a:rPr sz="1600" dirty="0"/>
              <a:t> </a:t>
            </a:r>
            <a:r>
              <a:rPr sz="1600" dirty="0" err="1"/>
              <a:t>mạnh</a:t>
            </a:r>
            <a:r>
              <a:rPr sz="1600" dirty="0"/>
              <a:t>; RF </a:t>
            </a:r>
            <a:r>
              <a:rPr sz="1600" dirty="0" err="1"/>
              <a:t>dẫn</a:t>
            </a:r>
            <a:r>
              <a:rPr sz="1600" dirty="0"/>
              <a:t> </a:t>
            </a:r>
            <a:r>
              <a:rPr sz="1600" dirty="0" err="1"/>
              <a:t>đầu</a:t>
            </a:r>
            <a:r>
              <a:rPr sz="1600" dirty="0"/>
              <a:t> AUC cross-dataset, </a:t>
            </a:r>
            <a:r>
              <a:rPr sz="1600" dirty="0" err="1"/>
              <a:t>còn</a:t>
            </a:r>
            <a:r>
              <a:rPr sz="1600" dirty="0"/>
              <a:t> </a:t>
            </a:r>
            <a:r>
              <a:rPr sz="1600" dirty="0" err="1"/>
              <a:t>lựa</a:t>
            </a:r>
            <a:r>
              <a:rPr sz="1600" dirty="0"/>
              <a:t> </a:t>
            </a:r>
            <a:r>
              <a:rPr sz="1600" dirty="0" err="1"/>
              <a:t>chọn</a:t>
            </a:r>
            <a:r>
              <a:rPr sz="1600" dirty="0"/>
              <a:t> </a:t>
            </a:r>
            <a:r>
              <a:rPr sz="1600" dirty="0" err="1"/>
              <a:t>triển</a:t>
            </a:r>
            <a:r>
              <a:rPr sz="1600" dirty="0"/>
              <a:t> </a:t>
            </a:r>
            <a:r>
              <a:rPr sz="1600" dirty="0" err="1"/>
              <a:t>khai</a:t>
            </a:r>
            <a:r>
              <a:rPr sz="1600" dirty="0"/>
              <a:t> </a:t>
            </a:r>
            <a:r>
              <a:rPr sz="1600" dirty="0" err="1"/>
              <a:t>phải</a:t>
            </a:r>
            <a:r>
              <a:rPr sz="1600" dirty="0"/>
              <a:t> </a:t>
            </a:r>
            <a:r>
              <a:rPr sz="1600" dirty="0" err="1"/>
              <a:t>được</a:t>
            </a:r>
            <a:r>
              <a:rPr sz="1600" dirty="0"/>
              <a:t> </a:t>
            </a:r>
            <a:r>
              <a:rPr sz="1600" dirty="0" err="1"/>
              <a:t>xác</a:t>
            </a:r>
            <a:r>
              <a:rPr sz="1600" dirty="0"/>
              <a:t> </a:t>
            </a:r>
            <a:r>
              <a:rPr sz="1600" dirty="0" err="1"/>
              <a:t>nhận</a:t>
            </a:r>
            <a:r>
              <a:rPr sz="1600" dirty="0"/>
              <a:t> </a:t>
            </a:r>
            <a:r>
              <a:rPr sz="1600" dirty="0" err="1"/>
              <a:t>bằng</a:t>
            </a:r>
            <a:r>
              <a:rPr sz="1600" dirty="0"/>
              <a:t> </a:t>
            </a:r>
            <a:r>
              <a:rPr sz="1600" dirty="0" err="1"/>
              <a:t>Kịch</a:t>
            </a:r>
            <a:r>
              <a:rPr sz="1600" dirty="0"/>
              <a:t> </a:t>
            </a:r>
            <a:r>
              <a:rPr sz="1600" dirty="0" err="1"/>
              <a:t>bản</a:t>
            </a:r>
            <a:r>
              <a:rPr sz="1600" dirty="0"/>
              <a:t> 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15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10983558" y="158451"/>
            <a:ext cx="1016147" cy="6381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2" name="Google Shape;552;p15"/>
          <p:cNvCxnSpPr/>
          <p:nvPr/>
        </p:nvCxnSpPr>
        <p:spPr>
          <a:xfrm>
            <a:off x="0" y="839624"/>
            <a:ext cx="10800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553" name="Google Shape;553;p15"/>
          <p:cNvSpPr txBox="1"/>
          <p:nvPr/>
        </p:nvSpPr>
        <p:spPr>
          <a:xfrm>
            <a:off x="350875" y="1022900"/>
            <a:ext cx="11067900" cy="62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5"/>
          <p:cNvSpPr txBox="1"/>
          <p:nvPr/>
        </p:nvSpPr>
        <p:spPr>
          <a:xfrm>
            <a:off x="8216750" y="3554925"/>
            <a:ext cx="101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5"/>
          <p:cNvSpPr txBox="1"/>
          <p:nvPr/>
        </p:nvSpPr>
        <p:spPr>
          <a:xfrm>
            <a:off x="11237934" y="6481425"/>
            <a:ext cx="83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dirty="0"/>
          </a:p>
        </p:txBody>
      </p:sp>
      <p:sp>
        <p:nvSpPr>
          <p:cNvPr id="557" name="Google Shape;557;p15"/>
          <p:cNvSpPr txBox="1"/>
          <p:nvPr/>
        </p:nvSpPr>
        <p:spPr>
          <a:xfrm>
            <a:off x="765315" y="211063"/>
            <a:ext cx="9126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vi-VN" sz="2400" b="1" dirty="0">
                <a:solidFill>
                  <a:srgbClr val="5F74BE"/>
                </a:solidFill>
              </a:rPr>
              <a:t>16. Lựa chọn mô hình triển khai</a:t>
            </a:r>
            <a:endParaRPr sz="2400" b="0" i="0" u="none" strike="noStrike" cap="none" dirty="0">
              <a:solidFill>
                <a:srgbClr val="5F74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5"/>
          <p:cNvSpPr txBox="1"/>
          <p:nvPr/>
        </p:nvSpPr>
        <p:spPr>
          <a:xfrm>
            <a:off x="615949" y="6478270"/>
            <a:ext cx="14193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1800" dirty="0">
                <a:solidFill>
                  <a:schemeClr val="dk1"/>
                </a:solidFill>
              </a:rPr>
              <a:t>03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5C1CDF-EB0B-EEC3-0A31-61976A2AEE5A}"/>
              </a:ext>
            </a:extLst>
          </p:cNvPr>
          <p:cNvSpPr/>
          <p:nvPr/>
        </p:nvSpPr>
        <p:spPr>
          <a:xfrm>
            <a:off x="152" y="0"/>
            <a:ext cx="12191695" cy="109728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529BB-D693-09E3-FEC3-1C9303F9F23E}"/>
              </a:ext>
            </a:extLst>
          </p:cNvPr>
          <p:cNvSpPr txBox="1"/>
          <p:nvPr/>
        </p:nvSpPr>
        <p:spPr>
          <a:xfrm>
            <a:off x="612800" y="841248"/>
            <a:ext cx="31435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>
                <a:latin typeface="Aptos"/>
              </a:rPr>
              <a:t>Lựa chọn sơ bộ – quyết định chính thức sau Kịch bản 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866611-9D96-8F47-51E8-C0ACDAF7F8B5}"/>
              </a:ext>
            </a:extLst>
          </p:cNvPr>
          <p:cNvSpPr txBox="1"/>
          <p:nvPr/>
        </p:nvSpPr>
        <p:spPr>
          <a:xfrm>
            <a:off x="11384432" y="64282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00">
                <a:solidFill>
                  <a:srgbClr val="5C6674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3FF973-8F0E-12AF-9EE3-D03FE8B2E6CC}"/>
              </a:ext>
            </a:extLst>
          </p:cNvPr>
          <p:cNvSpPr/>
          <p:nvPr/>
        </p:nvSpPr>
        <p:spPr>
          <a:xfrm>
            <a:off x="640232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B201B2-E323-5120-F09C-89BF3B3A6830}"/>
              </a:ext>
            </a:extLst>
          </p:cNvPr>
          <p:cNvSpPr/>
          <p:nvPr/>
        </p:nvSpPr>
        <p:spPr>
          <a:xfrm>
            <a:off x="640232" y="1325880"/>
            <a:ext cx="73152" cy="1645920"/>
          </a:xfrm>
          <a:prstGeom prst="rect">
            <a:avLst/>
          </a:prstGeom>
          <a:solidFill>
            <a:srgbClr val="2B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15CF02-F25A-2EBA-F20A-3E2C4E424E3D}"/>
              </a:ext>
            </a:extLst>
          </p:cNvPr>
          <p:cNvSpPr txBox="1"/>
          <p:nvPr/>
        </p:nvSpPr>
        <p:spPr>
          <a:xfrm>
            <a:off x="841399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latin typeface="Aptos"/>
              </a:rPr>
              <a:t>LightGBM – ưu tiên sơ bộ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B57971-7C92-54CF-3C39-E32860403F8B}"/>
              </a:ext>
            </a:extLst>
          </p:cNvPr>
          <p:cNvSpPr txBox="1"/>
          <p:nvPr/>
        </p:nvSpPr>
        <p:spPr>
          <a:xfrm>
            <a:off x="841399" y="192024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/>
              <a:t>Macro-F1 0,9988 · FN 47 · 0,80 MB · 0,8 ms/luồng · huấn luyện ≈ 40,7 phút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6DEFC14-7B43-F2C3-006E-8D32F7984FF9}"/>
              </a:ext>
            </a:extLst>
          </p:cNvPr>
          <p:cNvSpPr/>
          <p:nvPr/>
        </p:nvSpPr>
        <p:spPr>
          <a:xfrm>
            <a:off x="4434992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1286C6-026F-2D51-1326-4A81D9D3F0FF}"/>
              </a:ext>
            </a:extLst>
          </p:cNvPr>
          <p:cNvSpPr/>
          <p:nvPr/>
        </p:nvSpPr>
        <p:spPr>
          <a:xfrm>
            <a:off x="4434992" y="1325880"/>
            <a:ext cx="73152" cy="1645920"/>
          </a:xfrm>
          <a:prstGeom prst="rect">
            <a:avLst/>
          </a:prstGeom>
          <a:solidFill>
            <a:srgbClr val="1D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A1D547-D3FC-37E9-3499-7C9B48612B14}"/>
              </a:ext>
            </a:extLst>
          </p:cNvPr>
          <p:cNvSpPr txBox="1"/>
          <p:nvPr/>
        </p:nvSpPr>
        <p:spPr>
          <a:xfrm>
            <a:off x="4636160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latin typeface="Aptos"/>
              </a:rPr>
              <a:t>Random Forest – ứng viên thay thế thứ nhất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9B287E-D924-374D-0E58-6FF42BB81532}"/>
              </a:ext>
            </a:extLst>
          </p:cNvPr>
          <p:cNvSpPr txBox="1"/>
          <p:nvPr/>
        </p:nvSpPr>
        <p:spPr>
          <a:xfrm>
            <a:off x="4636160" y="192024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/>
              <a:t>AUC cross-dataset tốt nhất: 0,86; đặc biệt AUC 0,96 khi test CIC-DDoS2019.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7755C47-98B4-5519-C341-5AF0FF0A054E}"/>
              </a:ext>
            </a:extLst>
          </p:cNvPr>
          <p:cNvSpPr/>
          <p:nvPr/>
        </p:nvSpPr>
        <p:spPr>
          <a:xfrm>
            <a:off x="8229752" y="13258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8F3686-1030-50FD-D0BA-B27AECC2774D}"/>
              </a:ext>
            </a:extLst>
          </p:cNvPr>
          <p:cNvSpPr/>
          <p:nvPr/>
        </p:nvSpPr>
        <p:spPr>
          <a:xfrm>
            <a:off x="8229752" y="1325880"/>
            <a:ext cx="73152" cy="1645920"/>
          </a:xfrm>
          <a:prstGeom prst="rect">
            <a:avLst/>
          </a:prstGeom>
          <a:solidFill>
            <a:srgbClr val="31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760E07-13C0-4799-8EF6-5D0EDC0F5AD1}"/>
              </a:ext>
            </a:extLst>
          </p:cNvPr>
          <p:cNvSpPr txBox="1"/>
          <p:nvPr/>
        </p:nvSpPr>
        <p:spPr>
          <a:xfrm>
            <a:off x="8430920" y="1490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XGBoost – thay thế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26D7F4-9A8E-A33F-725C-B2B4B496B19F}"/>
              </a:ext>
            </a:extLst>
          </p:cNvPr>
          <p:cNvSpPr txBox="1"/>
          <p:nvPr/>
        </p:nvSpPr>
        <p:spPr>
          <a:xfrm>
            <a:off x="8430920" y="192024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Ít báo động giả nhất ở Kịch bản A: 31 luồng (≈0,007%).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19F4F41-36BC-6C71-B29C-E2378522BD77}"/>
              </a:ext>
            </a:extLst>
          </p:cNvPr>
          <p:cNvSpPr/>
          <p:nvPr/>
        </p:nvSpPr>
        <p:spPr>
          <a:xfrm>
            <a:off x="2469032" y="37947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C7CA94-9546-95E0-96FF-055AC16C57BE}"/>
              </a:ext>
            </a:extLst>
          </p:cNvPr>
          <p:cNvSpPr/>
          <p:nvPr/>
        </p:nvSpPr>
        <p:spPr>
          <a:xfrm>
            <a:off x="2469032" y="3794760"/>
            <a:ext cx="73152" cy="1645920"/>
          </a:xfrm>
          <a:prstGeom prst="rect">
            <a:avLst/>
          </a:prstGeom>
          <a:solidFill>
            <a:srgbClr val="C17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944B93-4506-4AD3-9F8F-C70662431367}"/>
              </a:ext>
            </a:extLst>
          </p:cNvPr>
          <p:cNvSpPr txBox="1"/>
          <p:nvPr/>
        </p:nvSpPr>
        <p:spPr>
          <a:xfrm>
            <a:off x="2670200" y="395935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>
                <a:solidFill>
                  <a:srgbClr val="142749"/>
                </a:solidFill>
                <a:latin typeface="Aptos"/>
              </a:rPr>
              <a:t>MLP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46CECA-1397-A15D-DAEB-C5F75C73F9E5}"/>
              </a:ext>
            </a:extLst>
          </p:cNvPr>
          <p:cNvSpPr txBox="1"/>
          <p:nvPr/>
        </p:nvSpPr>
        <p:spPr>
          <a:xfrm>
            <a:off x="2670200" y="4389120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Không ưu tiên: bỏ sót nhiều hơn và tổng quát hóa thấp hơn ba mô hình cây.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F6C1CFA-498B-E682-3454-771EF646E2C6}"/>
              </a:ext>
            </a:extLst>
          </p:cNvPr>
          <p:cNvSpPr/>
          <p:nvPr/>
        </p:nvSpPr>
        <p:spPr>
          <a:xfrm>
            <a:off x="6263792" y="37947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8C6165-1714-8164-8D01-55D2986D7384}"/>
              </a:ext>
            </a:extLst>
          </p:cNvPr>
          <p:cNvSpPr/>
          <p:nvPr/>
        </p:nvSpPr>
        <p:spPr>
          <a:xfrm>
            <a:off x="6263792" y="3794760"/>
            <a:ext cx="73152" cy="1645920"/>
          </a:xfrm>
          <a:prstGeom prst="rect">
            <a:avLst/>
          </a:prstGeom>
          <a:solidFill>
            <a:srgbClr val="14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067D92-2E7B-BDF1-2D20-444525A74B07}"/>
              </a:ext>
            </a:extLst>
          </p:cNvPr>
          <p:cNvSpPr txBox="1"/>
          <p:nvPr/>
        </p:nvSpPr>
        <p:spPr>
          <a:xfrm>
            <a:off x="6458560" y="377647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 dirty="0">
                <a:latin typeface="Aptos"/>
              </a:rPr>
              <a:t>Quy </a:t>
            </a:r>
            <a:r>
              <a:rPr sz="1600" b="1" dirty="0" err="1">
                <a:latin typeface="Aptos"/>
              </a:rPr>
              <a:t>tắc</a:t>
            </a:r>
            <a:r>
              <a:rPr sz="1600" b="1" dirty="0">
                <a:latin typeface="Aptos"/>
              </a:rPr>
              <a:t> </a:t>
            </a:r>
            <a:r>
              <a:rPr sz="1600" b="1" dirty="0" err="1">
                <a:latin typeface="Aptos"/>
              </a:rPr>
              <a:t>chốt</a:t>
            </a:r>
            <a:r>
              <a:rPr sz="1600" b="1" dirty="0">
                <a:latin typeface="Aptos"/>
              </a:rPr>
              <a:t> </a:t>
            </a:r>
            <a:r>
              <a:rPr sz="1600" b="1" dirty="0" err="1">
                <a:latin typeface="Aptos"/>
              </a:rPr>
              <a:t>tại</a:t>
            </a:r>
            <a:r>
              <a:rPr sz="1600" b="1" dirty="0">
                <a:latin typeface="Aptos"/>
              </a:rPr>
              <a:t> </a:t>
            </a:r>
            <a:r>
              <a:rPr sz="1600" b="1" dirty="0" err="1">
                <a:latin typeface="Aptos"/>
              </a:rPr>
              <a:t>Kịch</a:t>
            </a:r>
            <a:r>
              <a:rPr sz="1600" b="1" dirty="0">
                <a:latin typeface="Aptos"/>
              </a:rPr>
              <a:t> </a:t>
            </a:r>
            <a:r>
              <a:rPr sz="1600" b="1" dirty="0" err="1">
                <a:latin typeface="Aptos"/>
              </a:rPr>
              <a:t>bản</a:t>
            </a:r>
            <a:r>
              <a:rPr sz="1600" b="1" dirty="0">
                <a:latin typeface="Aptos"/>
              </a:rPr>
              <a:t> 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6C779F-D4C1-0FE1-DC17-B9C5CE2B06F5}"/>
              </a:ext>
            </a:extLst>
          </p:cNvPr>
          <p:cNvSpPr txBox="1"/>
          <p:nvPr/>
        </p:nvSpPr>
        <p:spPr>
          <a:xfrm>
            <a:off x="6483248" y="4091851"/>
            <a:ext cx="3063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50">
                <a:solidFill>
                  <a:srgbClr val="242B36"/>
                </a:solidFill>
                <a:latin typeface="Aptos"/>
              </a:defRPr>
            </a:pPr>
            <a:r>
              <a:rPr sz="1600" dirty="0" err="1"/>
              <a:t>Nếu</a:t>
            </a:r>
            <a:r>
              <a:rPr sz="1600" dirty="0"/>
              <a:t> RF </a:t>
            </a:r>
            <a:r>
              <a:rPr sz="1600" dirty="0" err="1"/>
              <a:t>hơn</a:t>
            </a:r>
            <a:r>
              <a:rPr sz="1600" dirty="0"/>
              <a:t> </a:t>
            </a:r>
            <a:r>
              <a:rPr sz="1600" dirty="0" err="1"/>
              <a:t>LightGBM</a:t>
            </a:r>
            <a:r>
              <a:rPr sz="1600" dirty="0"/>
              <a:t> &gt; 0,02 AUC </a:t>
            </a:r>
            <a:r>
              <a:rPr sz="1600" dirty="0" err="1"/>
              <a:t>hoặc</a:t>
            </a:r>
            <a:r>
              <a:rPr sz="1600" dirty="0"/>
              <a:t> &gt; 2 </a:t>
            </a:r>
            <a:r>
              <a:rPr sz="1600" dirty="0" err="1"/>
              <a:t>điểm</a:t>
            </a:r>
            <a:r>
              <a:rPr sz="1600" dirty="0"/>
              <a:t> % detection </a:t>
            </a:r>
            <a:r>
              <a:rPr sz="1600" dirty="0" err="1"/>
              <a:t>thì</a:t>
            </a:r>
            <a:r>
              <a:rPr sz="1600" dirty="0"/>
              <a:t> </a:t>
            </a:r>
            <a:r>
              <a:rPr sz="1600" dirty="0" err="1"/>
              <a:t>chuyển</a:t>
            </a:r>
            <a:r>
              <a:rPr sz="1600" dirty="0"/>
              <a:t> sang RF; </a:t>
            </a:r>
            <a:r>
              <a:rPr sz="1600" dirty="0" err="1"/>
              <a:t>ngược</a:t>
            </a:r>
            <a:r>
              <a:rPr sz="1600" dirty="0"/>
              <a:t> </a:t>
            </a:r>
            <a:r>
              <a:rPr sz="1600" dirty="0" err="1"/>
              <a:t>lại</a:t>
            </a:r>
            <a:r>
              <a:rPr sz="1600" dirty="0"/>
              <a:t> </a:t>
            </a:r>
            <a:r>
              <a:rPr sz="1600" dirty="0" err="1"/>
              <a:t>giữ</a:t>
            </a:r>
            <a:r>
              <a:rPr sz="1600" dirty="0"/>
              <a:t> </a:t>
            </a:r>
            <a:r>
              <a:rPr sz="1600" dirty="0" err="1"/>
              <a:t>LightGBM</a:t>
            </a:r>
            <a:r>
              <a:rPr sz="1600" dirty="0"/>
              <a:t>. </a:t>
            </a:r>
            <a:r>
              <a:rPr sz="1600" dirty="0" err="1"/>
              <a:t>Thứ</a:t>
            </a:r>
            <a:r>
              <a:rPr sz="1600" dirty="0"/>
              <a:t> </a:t>
            </a:r>
            <a:r>
              <a:rPr sz="1600" dirty="0" err="1"/>
              <a:t>tự</a:t>
            </a:r>
            <a:r>
              <a:rPr sz="1600" dirty="0"/>
              <a:t> </a:t>
            </a:r>
            <a:r>
              <a:rPr sz="1600" dirty="0" err="1"/>
              <a:t>hiện</a:t>
            </a:r>
            <a:r>
              <a:rPr sz="1600" dirty="0"/>
              <a:t> </a:t>
            </a:r>
            <a:r>
              <a:rPr sz="1600" dirty="0" err="1"/>
              <a:t>tại</a:t>
            </a:r>
            <a:r>
              <a:rPr sz="1600" dirty="0"/>
              <a:t>: </a:t>
            </a:r>
            <a:r>
              <a:rPr sz="1600" dirty="0" err="1"/>
              <a:t>LightGBM</a:t>
            </a:r>
            <a:r>
              <a:rPr sz="1600" dirty="0"/>
              <a:t> → RF → </a:t>
            </a:r>
            <a:r>
              <a:rPr sz="1600" dirty="0" err="1"/>
              <a:t>XGBoost</a:t>
            </a:r>
            <a:r>
              <a:rPr sz="1600" dirty="0"/>
              <a:t> → MLP.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7" name="Google Shape;577;p17"/>
          <p:cNvCxnSpPr/>
          <p:nvPr/>
        </p:nvCxnSpPr>
        <p:spPr>
          <a:xfrm>
            <a:off x="0" y="839624"/>
            <a:ext cx="10800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580" name="Google Shape;580;p17"/>
          <p:cNvSpPr txBox="1"/>
          <p:nvPr/>
        </p:nvSpPr>
        <p:spPr>
          <a:xfrm>
            <a:off x="11237934" y="6481425"/>
            <a:ext cx="83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17"/>
          <p:cNvSpPr txBox="1"/>
          <p:nvPr/>
        </p:nvSpPr>
        <p:spPr>
          <a:xfrm>
            <a:off x="615949" y="6478270"/>
            <a:ext cx="13996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03/10/2026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94;p50">
            <a:extLst>
              <a:ext uri="{FF2B5EF4-FFF2-40B4-BE49-F238E27FC236}">
                <a16:creationId xmlns:a16="http://schemas.microsoft.com/office/drawing/2014/main" id="{13D5E652-21A3-EE5E-0EBD-D3B98BF67990}"/>
              </a:ext>
            </a:extLst>
          </p:cNvPr>
          <p:cNvSpPr/>
          <p:nvPr/>
        </p:nvSpPr>
        <p:spPr>
          <a:xfrm>
            <a:off x="75" y="3788856"/>
            <a:ext cx="12192000" cy="3114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695;p50">
            <a:extLst>
              <a:ext uri="{FF2B5EF4-FFF2-40B4-BE49-F238E27FC236}">
                <a16:creationId xmlns:a16="http://schemas.microsoft.com/office/drawing/2014/main" id="{5002FCD2-7EC0-2DA0-0D47-363947D58DC8}"/>
              </a:ext>
            </a:extLst>
          </p:cNvPr>
          <p:cNvSpPr/>
          <p:nvPr/>
        </p:nvSpPr>
        <p:spPr>
          <a:xfrm>
            <a:off x="10475" y="3827475"/>
            <a:ext cx="3476400" cy="3114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696;p50">
            <a:extLst>
              <a:ext uri="{FF2B5EF4-FFF2-40B4-BE49-F238E27FC236}">
                <a16:creationId xmlns:a16="http://schemas.microsoft.com/office/drawing/2014/main" id="{690AF2A6-A19A-521E-2B7F-B9164C41A5D5}"/>
              </a:ext>
            </a:extLst>
          </p:cNvPr>
          <p:cNvSpPr txBox="1"/>
          <p:nvPr/>
        </p:nvSpPr>
        <p:spPr>
          <a:xfrm>
            <a:off x="956817" y="634656"/>
            <a:ext cx="10580700" cy="2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endParaRPr sz="4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vi-VN" sz="4600" b="1" i="0" u="none" strike="noStrike" cap="none" dirty="0">
                <a:solidFill>
                  <a:srgbClr val="5F74BE"/>
                </a:solidFill>
                <a:latin typeface="Arial"/>
                <a:ea typeface="Arial"/>
                <a:cs typeface="Arial"/>
                <a:sym typeface="Arial"/>
              </a:rPr>
              <a:t> Xin </a:t>
            </a:r>
            <a:r>
              <a:rPr lang="vi-VN" sz="4600" b="1" dirty="0">
                <a:solidFill>
                  <a:srgbClr val="5F74BE"/>
                </a:solidFill>
              </a:rPr>
              <a:t>c</a:t>
            </a:r>
            <a:r>
              <a:rPr lang="en-US" sz="4600" b="1" i="0" u="none" strike="noStrike" cap="none" dirty="0" err="1">
                <a:solidFill>
                  <a:srgbClr val="5F74BE"/>
                </a:solidFill>
                <a:latin typeface="Arial"/>
                <a:ea typeface="Arial"/>
                <a:cs typeface="Arial"/>
                <a:sym typeface="Arial"/>
              </a:rPr>
              <a:t>ảm</a:t>
            </a:r>
            <a:r>
              <a:rPr lang="en-US" sz="4600" b="1" i="0" u="none" strike="noStrike" cap="none" dirty="0">
                <a:solidFill>
                  <a:srgbClr val="5F74B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600" b="1" i="0" u="none" strike="noStrike" cap="none" dirty="0" err="1">
                <a:solidFill>
                  <a:srgbClr val="5F74BE"/>
                </a:solidFill>
                <a:latin typeface="Arial"/>
                <a:ea typeface="Arial"/>
                <a:cs typeface="Arial"/>
                <a:sym typeface="Arial"/>
              </a:rPr>
              <a:t>ơn</a:t>
            </a:r>
            <a:r>
              <a:rPr lang="vi-VN" sz="4600" b="1" i="0" u="none" strike="noStrike" cap="none" dirty="0">
                <a:solidFill>
                  <a:srgbClr val="5F74BE"/>
                </a:solidFill>
                <a:latin typeface="Arial"/>
                <a:ea typeface="Arial"/>
                <a:cs typeface="Arial"/>
                <a:sym typeface="Arial"/>
              </a:rPr>
              <a:t> hội đồng</a:t>
            </a:r>
            <a:endParaRPr sz="4600" b="1" i="0" u="none" strike="noStrike" cap="none" dirty="0">
              <a:solidFill>
                <a:srgbClr val="5F74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697;p50">
            <a:extLst>
              <a:ext uri="{FF2B5EF4-FFF2-40B4-BE49-F238E27FC236}">
                <a16:creationId xmlns:a16="http://schemas.microsoft.com/office/drawing/2014/main" id="{EA71FCFE-6007-CAB6-52E1-CDCA7BF588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0642" y="3493074"/>
            <a:ext cx="2050850" cy="128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698;p50">
            <a:extLst>
              <a:ext uri="{FF2B5EF4-FFF2-40B4-BE49-F238E27FC236}">
                <a16:creationId xmlns:a16="http://schemas.microsoft.com/office/drawing/2014/main" id="{AFB320FE-52D9-C2F2-D1BB-EA91E7FCAB67}"/>
              </a:ext>
            </a:extLst>
          </p:cNvPr>
          <p:cNvSpPr txBox="1"/>
          <p:nvPr/>
        </p:nvSpPr>
        <p:spPr>
          <a:xfrm>
            <a:off x="10738573" y="6478275"/>
            <a:ext cx="99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dirty="0"/>
              <a:t>19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vi-V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dirty="0"/>
          </a:p>
        </p:txBody>
      </p:sp>
      <p:sp>
        <p:nvSpPr>
          <p:cNvPr id="17" name="Google Shape;810;p21">
            <a:extLst>
              <a:ext uri="{FF2B5EF4-FFF2-40B4-BE49-F238E27FC236}">
                <a16:creationId xmlns:a16="http://schemas.microsoft.com/office/drawing/2014/main" id="{EAA375AC-4365-46A7-6578-ED0CDF684FCD}"/>
              </a:ext>
            </a:extLst>
          </p:cNvPr>
          <p:cNvSpPr txBox="1"/>
          <p:nvPr/>
        </p:nvSpPr>
        <p:spPr>
          <a:xfrm>
            <a:off x="654483" y="2251790"/>
            <a:ext cx="11125800" cy="1113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sz="2300" dirty="0">
                <a:solidFill>
                  <a:schemeClr val="dk1"/>
                </a:solidFill>
              </a:rPr>
              <a:t>N</a:t>
            </a:r>
            <a:r>
              <a:rPr lang="vi-VN" sz="23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hóm kính mong nhận được ý kiến góp ý để tiếp tục hoàn thiện mô hình, hệ thống và nội dung khóa luận.</a:t>
            </a:r>
            <a:endParaRPr sz="23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2199</Words>
  <Application>Microsoft Office PowerPoint</Application>
  <PresentationFormat>Màn hình rộng</PresentationFormat>
  <Paragraphs>285</Paragraphs>
  <Slides>19</Slides>
  <Notes>15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Times New Roman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Bình Nguyễn Mỹ</dc:creator>
  <cp:lastModifiedBy>linh phùng</cp:lastModifiedBy>
  <cp:revision>4</cp:revision>
  <dcterms:created xsi:type="dcterms:W3CDTF">2026-06-26T01:11:00Z</dcterms:created>
  <dcterms:modified xsi:type="dcterms:W3CDTF">2026-10-01T16:27:21Z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36FF6742E2E346E7983FBE9321176ADA_13</vt:lpwstr>
  </property>
</Properties>
</file>